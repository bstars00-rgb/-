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4" r:id="rId2"/>
    <p:sldId id="308" r:id="rId3"/>
    <p:sldId id="348" r:id="rId4"/>
    <p:sldId id="280" r:id="rId5"/>
    <p:sldId id="343" r:id="rId6"/>
    <p:sldId id="350" r:id="rId7"/>
    <p:sldId id="345" r:id="rId8"/>
    <p:sldId id="324" r:id="rId9"/>
    <p:sldId id="325" r:id="rId10"/>
    <p:sldId id="326" r:id="rId11"/>
    <p:sldId id="327" r:id="rId12"/>
    <p:sldId id="328" r:id="rId13"/>
    <p:sldId id="298" r:id="rId14"/>
    <p:sldId id="335" r:id="rId15"/>
    <p:sldId id="303" r:id="rId16"/>
    <p:sldId id="346" r:id="rId17"/>
    <p:sldId id="33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C1E3B2-8B73-DB30-434E-F2639E4ABB5B}" v="1" dt="2026-07-28T00:22:44.571"/>
    <p1510:client id="{B1FC1217-86CF-C810-E3F9-7E39E9398767}" v="79" dt="2026-07-28T00:54:48.1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AC3E97-ABB8-4CBF-9E1D-748A9ABC0AD1}" type="datetimeFigureOut">
              <a:t>2026-07-28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AC192-0A31-4FBC-9A77-20D6E0798A6F}" type="slidenum"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747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TRAINING DECK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Integration Process</a:t>
            </a:r>
            <a:endParaRPr lang="en-US" sz="480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9-Step End-to-End Process Every Sales Rep Should Know</a:t>
            </a:r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914400" y="2880360"/>
            <a:ext cx="1371600" cy="0"/>
          </a:xfrm>
          <a:prstGeom prst="line">
            <a:avLst/>
          </a:prstGeom>
          <a:noFill/>
          <a:ln w="25400">
            <a:solidFill>
              <a:srgbClr val="F9A8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STUDY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Linkstay (China) · Jun 2025 – May 2026 · approx. 11 months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Prepared by </a:t>
            </a:r>
            <a:r>
              <a:rPr lang="en-US" sz="11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Global Sales &amp; Marketing</a:t>
            </a:r>
            <a:r>
              <a:rPr lang="en-US" sz="110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|   May 2026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93264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Learning Objectives &amp; Case Study Overview</a:t>
            </a:r>
            <a:endParaRPr lang="en-US" sz="220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 you will take away from this training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Training | API Integration Process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17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389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1325880" y="1481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Understand the Full Process Flow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1325880" y="1783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steps from initial contact to Go-Live, with Sales' role and responsibilities at each stage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4389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40080" y="263347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132588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 Standard Terms &amp; Limits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1325880" y="28620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Acceptable concession ranges for Deposit, Credit Ratio, Settlement, Currency, and more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457200" y="3529584"/>
            <a:ext cx="4389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40080" y="371246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712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1325880" y="36393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Handle Key Negotiation Points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1325880" y="394106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4 issues clients repeatedly raise during contract review, and how to respond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5029200" y="1371600"/>
            <a:ext cx="3657600" cy="3291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STUDY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521208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Linkstay</a:t>
            </a:r>
            <a:endParaRPr lang="en-US" sz="2800"/>
          </a:p>
        </p:txBody>
      </p:sp>
      <p:sp>
        <p:nvSpPr>
          <p:cNvPr id="26" name="Text 24"/>
          <p:cNvSpPr/>
          <p:nvPr/>
        </p:nvSpPr>
        <p:spPr>
          <a:xfrm>
            <a:off x="521208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China · B2B Hotel Distribution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5212080" y="27432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 Daily Order Volume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5212080" y="2926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1,500 – 2,000 orders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5212080" y="32186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Channels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5212080" y="3401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Ctrip, Fliggy, Meituan + 400K+ agents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5212080" y="369417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Contract Type</a:t>
            </a:r>
            <a:endParaRPr lang="en-US" sz="900"/>
          </a:p>
        </p:txBody>
      </p:sp>
      <p:sp>
        <p:nvSpPr>
          <p:cNvPr id="32" name="Text 30"/>
          <p:cNvSpPr/>
          <p:nvPr/>
        </p:nvSpPr>
        <p:spPr>
          <a:xfrm>
            <a:off x="5212080" y="38770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Supplier (B2B inventory supply)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5212080" y="416966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Timeline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5212080" y="43525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Initial contact → Go-Live: approx. 11 months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610184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End-to-End 9-Step Process</a:t>
            </a:r>
            <a:endParaRPr lang="en-US" sz="220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From initial contact to Go-Live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Training | API Integration Process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17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697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73152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21792" y="13075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1143000" y="13258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 Meeting &amp; Lead Generation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621792" y="173736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Account setup, top-selling list, meeting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3273552" y="1234440"/>
            <a:ext cx="2697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273552" y="1234440"/>
            <a:ext cx="73152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438144" y="13075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3959352" y="13258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NDA Dispatch &amp; Fit Assessment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3438144" y="173736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NDA for confidentiality, model &amp; channel check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6089904" y="1234440"/>
            <a:ext cx="2697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089904" y="1234440"/>
            <a:ext cx="73152" cy="96012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254496" y="13075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/>
          </a:p>
        </p:txBody>
      </p:sp>
      <p:sp>
        <p:nvSpPr>
          <p:cNvPr id="20" name="Text 18"/>
          <p:cNvSpPr/>
          <p:nvPr/>
        </p:nvSpPr>
        <p:spPr>
          <a:xfrm>
            <a:off x="6775704" y="13258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Commercial Terms (Settlement)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6254496" y="173736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Deposit·Currency·Settlement → CEO approval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457200" y="2313432"/>
            <a:ext cx="2697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2313432"/>
            <a:ext cx="73152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21792" y="23865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00"/>
          </a:p>
        </p:txBody>
      </p:sp>
      <p:sp>
        <p:nvSpPr>
          <p:cNvPr id="25" name="Text 23"/>
          <p:cNvSpPr/>
          <p:nvPr/>
        </p:nvSpPr>
        <p:spPr>
          <a:xfrm>
            <a:off x="1143000" y="2404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NICE Screening &amp; Contract·SLA</a:t>
            </a:r>
            <a:endParaRPr lang="en-US" sz="1150"/>
          </a:p>
        </p:txBody>
      </p:sp>
      <p:sp>
        <p:nvSpPr>
          <p:cNvPr id="26" name="Text 24"/>
          <p:cNvSpPr/>
          <p:nvPr/>
        </p:nvSpPr>
        <p:spPr>
          <a:xfrm>
            <a:off x="621792" y="2816352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screening passed, then clause review &amp; SLA split</a:t>
            </a:r>
            <a:endParaRPr lang="en-US" sz="950"/>
          </a:p>
        </p:txBody>
      </p:sp>
      <p:sp>
        <p:nvSpPr>
          <p:cNvPr id="27" name="Shape 25"/>
          <p:cNvSpPr/>
          <p:nvPr/>
        </p:nvSpPr>
        <p:spPr>
          <a:xfrm>
            <a:off x="3273552" y="2313432"/>
            <a:ext cx="2697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273552" y="2313432"/>
            <a:ext cx="73152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438144" y="23865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200"/>
          </a:p>
        </p:txBody>
      </p:sp>
      <p:sp>
        <p:nvSpPr>
          <p:cNvPr id="30" name="Text 28"/>
          <p:cNvSpPr/>
          <p:nvPr/>
        </p:nvSpPr>
        <p:spPr>
          <a:xfrm>
            <a:off x="3959352" y="2404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Contract &amp; DEV Key Delivery</a:t>
            </a:r>
            <a:endParaRPr lang="en-US" sz="1150"/>
          </a:p>
        </p:txBody>
      </p:sp>
      <p:sp>
        <p:nvSpPr>
          <p:cNvPr id="31" name="Text 29"/>
          <p:cNvSpPr/>
          <p:nvPr/>
        </p:nvSpPr>
        <p:spPr>
          <a:xfrm>
            <a:off x="3438144" y="2816352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SPEC · DEV environment · DEV Credential</a:t>
            </a:r>
            <a:endParaRPr lang="en-US" sz="950"/>
          </a:p>
        </p:txBody>
      </p:sp>
      <p:sp>
        <p:nvSpPr>
          <p:cNvPr id="32" name="Shape 30"/>
          <p:cNvSpPr/>
          <p:nvPr/>
        </p:nvSpPr>
        <p:spPr>
          <a:xfrm>
            <a:off x="6089904" y="2313432"/>
            <a:ext cx="2697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089904" y="2313432"/>
            <a:ext cx="73152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254496" y="23865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200"/>
          </a:p>
        </p:txBody>
      </p:sp>
      <p:sp>
        <p:nvSpPr>
          <p:cNvPr id="35" name="Text 33"/>
          <p:cNvSpPr/>
          <p:nvPr/>
        </p:nvSpPr>
        <p:spPr>
          <a:xfrm>
            <a:off x="6775704" y="2404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Development &amp; Staging Test</a:t>
            </a:r>
            <a:endParaRPr lang="en-US" sz="1150"/>
          </a:p>
        </p:txBody>
      </p:sp>
      <p:sp>
        <p:nvSpPr>
          <p:cNvPr id="36" name="Text 34"/>
          <p:cNvSpPr/>
          <p:nvPr/>
        </p:nvSpPr>
        <p:spPr>
          <a:xfrm>
            <a:off x="6254496" y="2816352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Certification on unified test scenario</a:t>
            </a:r>
            <a:endParaRPr lang="en-US" sz="950"/>
          </a:p>
        </p:txBody>
      </p:sp>
      <p:sp>
        <p:nvSpPr>
          <p:cNvPr id="37" name="Shape 35"/>
          <p:cNvSpPr/>
          <p:nvPr/>
        </p:nvSpPr>
        <p:spPr>
          <a:xfrm>
            <a:off x="457200" y="3392424"/>
            <a:ext cx="2697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457200" y="3392424"/>
            <a:ext cx="73152" cy="96012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21792" y="34655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200"/>
          </a:p>
        </p:txBody>
      </p:sp>
      <p:sp>
        <p:nvSpPr>
          <p:cNvPr id="40" name="Text 38"/>
          <p:cNvSpPr/>
          <p:nvPr/>
        </p:nvSpPr>
        <p:spPr>
          <a:xfrm>
            <a:off x="1143000" y="34838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Completion &amp; Deposit</a:t>
            </a:r>
            <a:endParaRPr lang="en-US" sz="1150"/>
          </a:p>
        </p:txBody>
      </p:sp>
      <p:sp>
        <p:nvSpPr>
          <p:cNvPr id="41" name="Text 39"/>
          <p:cNvSpPr/>
          <p:nvPr/>
        </p:nvSpPr>
        <p:spPr>
          <a:xfrm>
            <a:off x="621792" y="3895344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Cert result verified + payment received</a:t>
            </a:r>
            <a:endParaRPr lang="en-US" sz="950"/>
          </a:p>
        </p:txBody>
      </p:sp>
      <p:sp>
        <p:nvSpPr>
          <p:cNvPr id="42" name="Shape 40"/>
          <p:cNvSpPr/>
          <p:nvPr/>
        </p:nvSpPr>
        <p:spPr>
          <a:xfrm>
            <a:off x="3273552" y="3392424"/>
            <a:ext cx="2697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3273552" y="3392424"/>
            <a:ext cx="73152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3438144" y="34655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2200"/>
          </a:p>
        </p:txBody>
      </p:sp>
      <p:sp>
        <p:nvSpPr>
          <p:cNvPr id="45" name="Text 43"/>
          <p:cNvSpPr/>
          <p:nvPr/>
        </p:nvSpPr>
        <p:spPr>
          <a:xfrm>
            <a:off x="3959352" y="34838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Key Issuance &amp; Live Test</a:t>
            </a:r>
            <a:endParaRPr lang="en-US" sz="1150"/>
          </a:p>
        </p:txBody>
      </p:sp>
      <p:sp>
        <p:nvSpPr>
          <p:cNvPr id="46" name="Text 44"/>
          <p:cNvSpPr/>
          <p:nvPr/>
        </p:nvSpPr>
        <p:spPr>
          <a:xfrm>
            <a:off x="3438144" y="3895344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 team → Sales → Client, Live Test</a:t>
            </a:r>
            <a:endParaRPr lang="en-US" sz="950"/>
          </a:p>
        </p:txBody>
      </p:sp>
      <p:sp>
        <p:nvSpPr>
          <p:cNvPr id="47" name="Shape 45"/>
          <p:cNvSpPr/>
          <p:nvPr/>
        </p:nvSpPr>
        <p:spPr>
          <a:xfrm>
            <a:off x="6089904" y="3392424"/>
            <a:ext cx="2697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6089904" y="3392424"/>
            <a:ext cx="73152" cy="96012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6254496" y="34655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2200"/>
          </a:p>
        </p:txBody>
      </p:sp>
      <p:sp>
        <p:nvSpPr>
          <p:cNvPr id="50" name="Text 48"/>
          <p:cNvSpPr/>
          <p:nvPr/>
        </p:nvSpPr>
        <p:spPr>
          <a:xfrm>
            <a:off x="6775704" y="34838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Go-Live / Live Completion</a:t>
            </a:r>
            <a:endParaRPr lang="en-US" sz="1150"/>
          </a:p>
        </p:txBody>
      </p:sp>
      <p:sp>
        <p:nvSpPr>
          <p:cNvPr id="51" name="Text 49"/>
          <p:cNvSpPr/>
          <p:nvPr/>
        </p:nvSpPr>
        <p:spPr>
          <a:xfrm>
            <a:off x="6254496" y="3895344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Schedule notice, monitoring, official launch</a:t>
            </a:r>
            <a:endParaRPr lang="en-US" sz="950"/>
          </a:p>
        </p:txBody>
      </p:sp>
      <p:sp>
        <p:nvSpPr>
          <p:cNvPr id="52" name="Shape 50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 Gold-marked steps (3, 7, 9)</a:t>
            </a:r>
            <a:r>
              <a:rPr lang="en-US" sz="110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are the key decision/gate points where Sales must focus most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4273744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Lead Generation &amp; Initial Contact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From interest → account setup → follow-up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Training | API Integration Process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17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Actions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457200" y="1563624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1563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731520" y="1508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Issue ohmyhotel.biz account (with temporary password)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457200" y="1947672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19476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731520" y="18928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Share top-selling hotel lists by country (KR/JP/VN)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7200" y="23317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731520" y="227685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Explain prepayment policy (credit card or bank transfer)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457200" y="2715768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7200" y="2715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731520" y="26609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Regular follow-up if client is unresponsive (every 3–6 weeks)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457200" y="3099816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57200" y="30998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731520" y="30449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Clarify client's business counterparts (R&amp;D, Procurement)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5212080" y="1188720"/>
            <a:ext cx="34747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34924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Linkstay Case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5349240" y="155448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2025.06.26 </a:t>
            </a: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Jensen issued account + sent top-selling list</a:t>
            </a:r>
            <a:endParaRPr lang="en-US" sz="100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2025.06.27 </a:t>
            </a: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Jason (Linkstay) expressed pricing interest + requested contract</a:t>
            </a:r>
            <a:endParaRPr lang="en-US" sz="100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2025.07.30 </a:t>
            </a: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Grace's first follow-up (no response)</a:t>
            </a:r>
            <a:endParaRPr lang="en-US" sz="100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2025.09.12 </a:t>
            </a:r>
            <a:r>
              <a:rPr lang="en-US" sz="1000">
                <a:solidFill>
                  <a:srgbClr val="0E9F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Second follow-up → partnership interest reconfirmed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5212080" y="3017520"/>
            <a:ext cx="3474720" cy="1600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349240" y="3108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LESSON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534924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Never give up on a silent lead</a:t>
            </a:r>
            <a:endParaRPr lang="en-US" sz="1600"/>
          </a:p>
        </p:txBody>
      </p:sp>
      <p:sp>
        <p:nvSpPr>
          <p:cNvPr id="31" name="Text 29"/>
          <p:cNvSpPr/>
          <p:nvPr/>
        </p:nvSpPr>
        <p:spPr>
          <a:xfrm>
            <a:off x="5349240" y="37490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Linkstay went silent for about 3 months after first contact (Jun → Sep) before re-engaging. Consistent follow-up is what ultimately closes the deal.</a:t>
            </a:r>
            <a:endParaRPr lang="en-US" sz="1050"/>
          </a:p>
        </p:txBody>
      </p:sp>
      <p:sp>
        <p:nvSpPr>
          <p:cNvPr id="32" name="Shape 30"/>
          <p:cNvSpPr/>
          <p:nvPr/>
        </p:nvSpPr>
        <p:spPr>
          <a:xfrm>
            <a:off x="457200" y="4114800"/>
            <a:ext cx="4572000" cy="50292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7200" y="4114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 ▸ </a:t>
            </a:r>
            <a:r>
              <a:rPr lang="en-US" sz="110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Move to Phase 2 once client confirms intent to partner + timeline is shared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125571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NDA Dispatch &amp; Business Fit Assessment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Secure confidentiality, then map client model &amp; channels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Training | API Integration Process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17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1. Send NDA (for confidentiality)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109728" cy="1097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463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Send OMH NDA template right after the client meeting (Sales drives)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457200" y="1883664"/>
            <a:ext cx="109728" cy="1097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" y="17922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 signs &amp; returns → send our countersigned copy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457200" y="2212848"/>
            <a:ext cx="109728" cy="1097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1214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Share pricing, inventory and API materials only after the NDA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2. Fit Questions (5 Must-Asks)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457200" y="2880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868680" y="2880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sales channels (B2B / B2C / WeChat, etc.)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457200" y="31729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868680" y="3172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vs B2C revenue mix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457200" y="346557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868680" y="34655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Average daily order volume (expected volume)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457200" y="375818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868680" y="37581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Inventory supply method (API / Static / Cross-Selling)</a:t>
            </a:r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457200" y="40507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868680" y="4050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 &amp; settlement currencies (USD / JPY / CNY)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5029200" y="1188720"/>
            <a:ext cx="36576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029200" y="1188720"/>
            <a:ext cx="91440" cy="338328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21208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Linkstay's Answers (Actual)</a:t>
            </a:r>
            <a:endParaRPr lang="en-US" sz="1150"/>
          </a:p>
        </p:txBody>
      </p:sp>
      <p:sp>
        <p:nvSpPr>
          <p:cNvPr id="30" name="Text 28"/>
          <p:cNvSpPr/>
          <p:nvPr/>
        </p:nvSpPr>
        <p:spPr>
          <a:xfrm>
            <a:off x="5212080" y="16916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Channels</a:t>
            </a:r>
            <a:endParaRPr lang="en-US" sz="950"/>
          </a:p>
        </p:txBody>
      </p:sp>
      <p:sp>
        <p:nvSpPr>
          <p:cNvPr id="31" name="Text 29"/>
          <p:cNvSpPr/>
          <p:nvPr/>
        </p:nvSpPr>
        <p:spPr>
          <a:xfrm>
            <a:off x="5212080" y="18745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Ctrip · Fliggy · Meituan (B2B) + 400K+ WeChat agents (B2C)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5212080" y="22585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vs B2C</a:t>
            </a:r>
            <a:endParaRPr lang="en-US" sz="950"/>
          </a:p>
        </p:txBody>
      </p:sp>
      <p:sp>
        <p:nvSpPr>
          <p:cNvPr id="33" name="Text 31"/>
          <p:cNvSpPr/>
          <p:nvPr/>
        </p:nvSpPr>
        <p:spPr>
          <a:xfrm>
            <a:off x="5212080" y="24414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Mostly B2B (overseas 3rd-party suppliers limited to private channels like WeChat)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5212080" y="28254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Daily Order Volume</a:t>
            </a:r>
            <a:endParaRPr lang="en-US" sz="950"/>
          </a:p>
        </p:txBody>
      </p:sp>
      <p:sp>
        <p:nvSpPr>
          <p:cNvPr id="35" name="Text 33"/>
          <p:cNvSpPr/>
          <p:nvPr/>
        </p:nvSpPr>
        <p:spPr>
          <a:xfrm>
            <a:off x="5212080" y="300837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1,500 – 2,000 orders (overseas transactions)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5212080" y="33924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Method</a:t>
            </a:r>
            <a:endParaRPr lang="en-US" sz="950"/>
          </a:p>
        </p:txBody>
      </p:sp>
      <p:sp>
        <p:nvSpPr>
          <p:cNvPr id="37" name="Text 35"/>
          <p:cNvSpPr/>
          <p:nvPr/>
        </p:nvSpPr>
        <p:spPr>
          <a:xfrm>
            <a:off x="5212080" y="357530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Auto-confirmation via API / self-managed settlement</a:t>
            </a:r>
            <a:endParaRPr lang="en-US" sz="1000"/>
          </a:p>
        </p:txBody>
      </p:sp>
      <p:sp>
        <p:nvSpPr>
          <p:cNvPr id="38" name="Text 36"/>
          <p:cNvSpPr/>
          <p:nvPr/>
        </p:nvSpPr>
        <p:spPr>
          <a:xfrm>
            <a:off x="5212080" y="39593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 Currency</a:t>
            </a:r>
            <a:endParaRPr lang="en-US" sz="950"/>
          </a:p>
        </p:txBody>
      </p:sp>
      <p:sp>
        <p:nvSpPr>
          <p:cNvPr id="39" name="Text 37"/>
          <p:cNvSpPr/>
          <p:nvPr/>
        </p:nvSpPr>
        <p:spPr>
          <a:xfrm>
            <a:off x="5212080" y="41422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 (as negotiated)</a:t>
            </a:r>
            <a:endParaRPr lang="en-US" sz="1000"/>
          </a:p>
        </p:txBody>
      </p:sp>
      <p:sp>
        <p:nvSpPr>
          <p:cNvPr id="40" name="Shape 38"/>
          <p:cNvSpPr/>
          <p:nvPr/>
        </p:nvSpPr>
        <p:spPr>
          <a:xfrm>
            <a:off x="457200" y="4617720"/>
            <a:ext cx="8229600" cy="0"/>
          </a:xfrm>
          <a:prstGeom prst="rect">
            <a:avLst/>
          </a:prstGeom>
          <a:solidFill>
            <a:srgbClr val="F8F9FC"/>
          </a:solidFill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068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Commercial Terms Negotiation (Settlement)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Agree Deposit · Currency · Settlement → CEO approval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Training | API Integration Process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17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73152" cy="146304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Deposit</a:t>
            </a:r>
            <a:endParaRPr lang="en-US" sz="1400"/>
          </a:p>
        </p:txBody>
      </p:sp>
      <p:sp>
        <p:nvSpPr>
          <p:cNvPr id="13" name="Text 10"/>
          <p:cNvSpPr/>
          <p:nvPr/>
        </p:nvSpPr>
        <p:spPr>
          <a:xfrm>
            <a:off x="685800" y="1828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Standard</a:t>
            </a:r>
            <a:endParaRPr lang="en-US" sz="850"/>
          </a:p>
        </p:txBody>
      </p:sp>
      <p:sp>
        <p:nvSpPr>
          <p:cNvPr id="14" name="Text 11"/>
          <p:cNvSpPr/>
          <p:nvPr/>
        </p:nvSpPr>
        <p:spPr>
          <a:xfrm>
            <a:off x="685800" y="1993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 30,000</a:t>
            </a:r>
            <a:endParaRPr lang="en-US" sz="1300"/>
          </a:p>
        </p:txBody>
      </p:sp>
      <p:sp>
        <p:nvSpPr>
          <p:cNvPr id="15" name="Text 12"/>
          <p:cNvSpPr/>
          <p:nvPr/>
        </p:nvSpPr>
        <p:spPr>
          <a:xfrm>
            <a:off x="2423160" y="18288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Negotiated</a:t>
            </a:r>
            <a:endParaRPr lang="en-US" sz="850"/>
          </a:p>
        </p:txBody>
      </p:sp>
      <p:sp>
        <p:nvSpPr>
          <p:cNvPr id="16" name="Text 13"/>
          <p:cNvSpPr/>
          <p:nvPr/>
        </p:nvSpPr>
        <p:spPr>
          <a:xfrm>
            <a:off x="2423160" y="19933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 10,000</a:t>
            </a:r>
            <a:endParaRPr lang="en-US" sz="1150"/>
          </a:p>
          <a:p>
            <a:pPr marL="0" indent="0" algn="l">
              <a:buNone/>
            </a:pPr>
            <a:r>
              <a:rPr lang="en-US" sz="11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(Linkstay)</a:t>
            </a:r>
            <a:endParaRPr lang="en-US" sz="1150"/>
          </a:p>
        </p:txBody>
      </p:sp>
      <p:sp>
        <p:nvSpPr>
          <p:cNvPr id="17" name="Text 14"/>
          <p:cNvSpPr/>
          <p:nvPr/>
        </p:nvSpPr>
        <p:spPr>
          <a:xfrm>
            <a:off x="685800" y="240487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Negotiable by tier &amp; volume</a:t>
            </a:r>
            <a:endParaRPr lang="en-US" sz="950"/>
          </a:p>
        </p:txBody>
      </p:sp>
      <p:sp>
        <p:nvSpPr>
          <p:cNvPr id="18" name="Shape 15"/>
          <p:cNvSpPr/>
          <p:nvPr/>
        </p:nvSpPr>
        <p:spPr>
          <a:xfrm>
            <a:off x="4572000" y="123444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4572000" y="1234440"/>
            <a:ext cx="73152" cy="146304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417320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1208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Credit Ratio</a:t>
            </a:r>
            <a:endParaRPr lang="en-US" sz="1400"/>
          </a:p>
        </p:txBody>
      </p:sp>
      <p:sp>
        <p:nvSpPr>
          <p:cNvPr id="22" name="Text 18"/>
          <p:cNvSpPr/>
          <p:nvPr/>
        </p:nvSpPr>
        <p:spPr>
          <a:xfrm>
            <a:off x="4800600" y="1828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Standard</a:t>
            </a:r>
            <a:endParaRPr lang="en-US" sz="850"/>
          </a:p>
        </p:txBody>
      </p:sp>
      <p:sp>
        <p:nvSpPr>
          <p:cNvPr id="23" name="Text 19"/>
          <p:cNvSpPr/>
          <p:nvPr/>
        </p:nvSpPr>
        <p:spPr>
          <a:xfrm>
            <a:off x="4800600" y="1993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</a:t>
            </a:r>
            <a:endParaRPr lang="en-US" sz="1300"/>
          </a:p>
        </p:txBody>
      </p:sp>
      <p:sp>
        <p:nvSpPr>
          <p:cNvPr id="24" name="Text 20"/>
          <p:cNvSpPr/>
          <p:nvPr/>
        </p:nvSpPr>
        <p:spPr>
          <a:xfrm>
            <a:off x="6537960" y="18288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Negotiated</a:t>
            </a:r>
            <a:endParaRPr lang="en-US" sz="850"/>
          </a:p>
        </p:txBody>
      </p:sp>
      <p:sp>
        <p:nvSpPr>
          <p:cNvPr id="25" name="Text 21"/>
          <p:cNvSpPr/>
          <p:nvPr/>
        </p:nvSpPr>
        <p:spPr>
          <a:xfrm>
            <a:off x="6537960" y="19933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Kept at 1:1</a:t>
            </a:r>
            <a:endParaRPr lang="en-US" sz="1150"/>
          </a:p>
        </p:txBody>
      </p:sp>
      <p:sp>
        <p:nvSpPr>
          <p:cNvPr id="26" name="Text 22"/>
          <p:cNvSpPr/>
          <p:nvPr/>
        </p:nvSpPr>
        <p:spPr>
          <a:xfrm>
            <a:off x="4800600" y="240487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Hold the line — no concessions</a:t>
            </a:r>
            <a:endParaRPr lang="en-US" sz="950"/>
          </a:p>
        </p:txBody>
      </p:sp>
      <p:sp>
        <p:nvSpPr>
          <p:cNvPr id="27" name="Shape 23"/>
          <p:cNvSpPr/>
          <p:nvPr/>
        </p:nvSpPr>
        <p:spPr>
          <a:xfrm>
            <a:off x="457200" y="288036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4"/>
          <p:cNvSpPr/>
          <p:nvPr/>
        </p:nvSpPr>
        <p:spPr>
          <a:xfrm>
            <a:off x="457200" y="2880360"/>
            <a:ext cx="73152" cy="146304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063240"/>
            <a:ext cx="320040" cy="32004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09728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Settlement</a:t>
            </a:r>
            <a:endParaRPr lang="en-US" sz="1400"/>
          </a:p>
        </p:txBody>
      </p:sp>
      <p:sp>
        <p:nvSpPr>
          <p:cNvPr id="31" name="Text 26"/>
          <p:cNvSpPr/>
          <p:nvPr/>
        </p:nvSpPr>
        <p:spPr>
          <a:xfrm>
            <a:off x="685800" y="34747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Standard</a:t>
            </a:r>
            <a:endParaRPr lang="en-US" sz="850"/>
          </a:p>
        </p:txBody>
      </p:sp>
      <p:sp>
        <p:nvSpPr>
          <p:cNvPr id="32" name="Text 27"/>
          <p:cNvSpPr/>
          <p:nvPr/>
        </p:nvSpPr>
        <p:spPr>
          <a:xfrm>
            <a:off x="685800" y="3639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Bi-Weekly</a:t>
            </a:r>
            <a:endParaRPr lang="en-US" sz="1300"/>
          </a:p>
        </p:txBody>
      </p:sp>
      <p:sp>
        <p:nvSpPr>
          <p:cNvPr id="33" name="Text 28"/>
          <p:cNvSpPr/>
          <p:nvPr/>
        </p:nvSpPr>
        <p:spPr>
          <a:xfrm>
            <a:off x="2423160" y="34747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Negotiated</a:t>
            </a:r>
            <a:endParaRPr lang="en-US" sz="850"/>
          </a:p>
        </p:txBody>
      </p:sp>
      <p:sp>
        <p:nvSpPr>
          <p:cNvPr id="34" name="Text 29"/>
          <p:cNvSpPr/>
          <p:nvPr/>
        </p:nvSpPr>
        <p:spPr>
          <a:xfrm>
            <a:off x="2423160" y="36393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Bi-Weekly</a:t>
            </a:r>
            <a:endParaRPr lang="en-US" sz="1150"/>
          </a:p>
          <a:p>
            <a:pPr marL="0" indent="0" algn="l">
              <a:buNone/>
            </a:pPr>
            <a:r>
              <a:rPr lang="en-US" sz="11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(based on check-out)</a:t>
            </a:r>
            <a:endParaRPr lang="en-US" sz="1150"/>
          </a:p>
        </p:txBody>
      </p:sp>
      <p:sp>
        <p:nvSpPr>
          <p:cNvPr id="35" name="Text 30"/>
          <p:cNvSpPr/>
          <p:nvPr/>
        </p:nvSpPr>
        <p:spPr>
          <a:xfrm>
            <a:off x="685800" y="405079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Cycle kept at standard</a:t>
            </a:r>
            <a:endParaRPr lang="en-US" sz="950"/>
          </a:p>
        </p:txBody>
      </p:sp>
      <p:sp>
        <p:nvSpPr>
          <p:cNvPr id="36" name="Shape 31"/>
          <p:cNvSpPr/>
          <p:nvPr/>
        </p:nvSpPr>
        <p:spPr>
          <a:xfrm>
            <a:off x="4572000" y="288036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2"/>
          <p:cNvSpPr/>
          <p:nvPr/>
        </p:nvSpPr>
        <p:spPr>
          <a:xfrm>
            <a:off x="4572000" y="2880360"/>
            <a:ext cx="73152" cy="146304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063240"/>
            <a:ext cx="320040" cy="32004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21208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Currency</a:t>
            </a:r>
            <a:endParaRPr lang="en-US" sz="1400"/>
          </a:p>
        </p:txBody>
      </p:sp>
      <p:sp>
        <p:nvSpPr>
          <p:cNvPr id="40" name="Text 34"/>
          <p:cNvSpPr/>
          <p:nvPr/>
        </p:nvSpPr>
        <p:spPr>
          <a:xfrm>
            <a:off x="4800600" y="34747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Standard</a:t>
            </a:r>
            <a:endParaRPr lang="en-US" sz="850"/>
          </a:p>
        </p:txBody>
      </p:sp>
      <p:sp>
        <p:nvSpPr>
          <p:cNvPr id="41" name="Text 35"/>
          <p:cNvSpPr/>
          <p:nvPr/>
        </p:nvSpPr>
        <p:spPr>
          <a:xfrm>
            <a:off x="4800600" y="3639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</a:t>
            </a:r>
            <a:endParaRPr lang="en-US" sz="1300"/>
          </a:p>
        </p:txBody>
      </p:sp>
      <p:sp>
        <p:nvSpPr>
          <p:cNvPr id="42" name="Text 36"/>
          <p:cNvSpPr/>
          <p:nvPr/>
        </p:nvSpPr>
        <p:spPr>
          <a:xfrm>
            <a:off x="6537960" y="34747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Negotiated</a:t>
            </a:r>
            <a:endParaRPr lang="en-US" sz="850"/>
          </a:p>
        </p:txBody>
      </p:sp>
      <p:sp>
        <p:nvSpPr>
          <p:cNvPr id="43" name="Text 37"/>
          <p:cNvSpPr/>
          <p:nvPr/>
        </p:nvSpPr>
        <p:spPr>
          <a:xfrm>
            <a:off x="6537960" y="36393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</a:t>
            </a:r>
            <a:endParaRPr lang="en-US" sz="1150"/>
          </a:p>
          <a:p>
            <a:pPr marL="0" indent="0" algn="l">
              <a:buNone/>
            </a:pPr>
            <a:r>
              <a:rPr lang="en-US" sz="11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(JPY proposal declined)</a:t>
            </a:r>
            <a:endParaRPr lang="en-US" sz="1150"/>
          </a:p>
        </p:txBody>
      </p:sp>
      <p:sp>
        <p:nvSpPr>
          <p:cNvPr id="44" name="Text 38"/>
          <p:cNvSpPr/>
          <p:nvPr/>
        </p:nvSpPr>
        <p:spPr>
          <a:xfrm>
            <a:off x="4800600" y="405079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Stick to USD as base currency</a:t>
            </a:r>
            <a:endParaRPr lang="en-US" sz="950"/>
          </a:p>
        </p:txBody>
      </p:sp>
      <p:sp>
        <p:nvSpPr>
          <p:cNvPr id="45" name="Shape 39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0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 All four terms need CEO approval before they are final — never commit to the client beforehand. In-person meetings accelerate negotiation (Linkstay, ITB Singapore Oct 15).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752327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NICE Screening &amp; Contract · SLA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AI screening → clause review → split SLA → signature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Training | API Integration Process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17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Progress timeline (Linkstay actual)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77724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15087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10/17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1325880" y="1508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sends draft contract (after NICE screening)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77724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1874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11/13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132588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 returned comments (incl. proposal to add SLA)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457200" y="2240280"/>
            <a:ext cx="77724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7200" y="2240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11/26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1325880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review reply + highlighted comments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77724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7200" y="2606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12/05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132588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Discussed referencing SLA in contract clauses III.3, IV.3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77724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57200" y="29718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12/09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1325880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Decided to split SLA into separate doc + sent revised contract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457200" y="3337560"/>
            <a:ext cx="77724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57200" y="33375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01/09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1325880" y="3337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Both parties signed contract + SLA</a:t>
            </a:r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5029200" y="1188720"/>
            <a:ext cx="36576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21208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4 Recurring Client Issues</a:t>
            </a:r>
            <a:endParaRPr lang="en-US" sz="1150"/>
          </a:p>
        </p:txBody>
      </p:sp>
      <p:sp>
        <p:nvSpPr>
          <p:cNvPr id="30" name="Shape 28"/>
          <p:cNvSpPr/>
          <p:nvPr/>
        </p:nvSpPr>
        <p:spPr>
          <a:xfrm>
            <a:off x="5212080" y="1673352"/>
            <a:ext cx="256032" cy="256032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21208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5532120" y="16276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Handling when booked rate can't be honored at check-in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5532120" y="19202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Codify the solution. Define specific handling criteria in the SLA</a:t>
            </a:r>
            <a:endParaRPr lang="en-US" sz="950"/>
          </a:p>
        </p:txBody>
      </p:sp>
      <p:sp>
        <p:nvSpPr>
          <p:cNvPr id="34" name="Shape 32"/>
          <p:cNvSpPr/>
          <p:nvPr/>
        </p:nvSpPr>
        <p:spPr>
          <a:xfrm>
            <a:off x="5212080" y="2386584"/>
            <a:ext cx="256032" cy="256032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212080" y="2386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5532120" y="23408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Scope of "Party B rights &amp; obligations"</a:t>
            </a:r>
            <a:endParaRPr lang="en-US" sz="1100"/>
          </a:p>
        </p:txBody>
      </p:sp>
      <p:sp>
        <p:nvSpPr>
          <p:cNvPr id="37" name="Text 35"/>
          <p:cNvSpPr/>
          <p:nvPr/>
        </p:nvSpPr>
        <p:spPr>
          <a:xfrm>
            <a:off x="5532120" y="26334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Clarify whether limited to API distribution or including websites</a:t>
            </a:r>
            <a:endParaRPr lang="en-US" sz="950"/>
          </a:p>
        </p:txBody>
      </p:sp>
      <p:sp>
        <p:nvSpPr>
          <p:cNvPr id="38" name="Shape 36"/>
          <p:cNvSpPr/>
          <p:nvPr/>
        </p:nvSpPr>
        <p:spPr>
          <a:xfrm>
            <a:off x="5212080" y="3099816"/>
            <a:ext cx="256032" cy="256032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212080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/>
          </a:p>
        </p:txBody>
      </p:sp>
      <p:sp>
        <p:nvSpPr>
          <p:cNvPr id="40" name="Text 38"/>
          <p:cNvSpPr/>
          <p:nvPr/>
        </p:nvSpPr>
        <p:spPr>
          <a:xfrm>
            <a:off x="5532120" y="30540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Billing dispute resolution deadline</a:t>
            </a:r>
            <a:endParaRPr lang="en-US" sz="1100"/>
          </a:p>
        </p:txBody>
      </p:sp>
      <p:sp>
        <p:nvSpPr>
          <p:cNvPr id="41" name="Text 39"/>
          <p:cNvSpPr/>
          <p:nvPr/>
        </p:nvSpPr>
        <p:spPr>
          <a:xfrm>
            <a:off x="5532120" y="334670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Clients say 5 working days is too short. Review together with penalty clause</a:t>
            </a:r>
            <a:endParaRPr lang="en-US" sz="950"/>
          </a:p>
        </p:txBody>
      </p:sp>
      <p:sp>
        <p:nvSpPr>
          <p:cNvPr id="42" name="Shape 40"/>
          <p:cNvSpPr/>
          <p:nvPr/>
        </p:nvSpPr>
        <p:spPr>
          <a:xfrm>
            <a:off x="5212080" y="3813048"/>
            <a:ext cx="256032" cy="256032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5212080" y="3813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/>
          </a:p>
        </p:txBody>
      </p:sp>
      <p:sp>
        <p:nvSpPr>
          <p:cNvPr id="44" name="Text 42"/>
          <p:cNvSpPr/>
          <p:nvPr/>
        </p:nvSpPr>
        <p:spPr>
          <a:xfrm>
            <a:off x="5532120" y="37673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1% Daily Payment Penalty</a:t>
            </a:r>
            <a:endParaRPr lang="en-US" sz="1100"/>
          </a:p>
        </p:txBody>
      </p:sp>
      <p:sp>
        <p:nvSpPr>
          <p:cNvPr id="45" name="Text 43"/>
          <p:cNvSpPr/>
          <p:nvPr/>
        </p:nvSpPr>
        <p:spPr>
          <a:xfrm>
            <a:off x="5532120" y="40599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Negotiate a proviso on whether it applies during disputes</a:t>
            </a:r>
            <a:endParaRPr lang="en-US" sz="950"/>
          </a:p>
        </p:txBody>
      </p:sp>
    </p:spTree>
    <p:extLst>
      <p:ext uri="{BB962C8B-B14F-4D97-AF65-F5344CB8AC3E}">
        <p14:creationId xmlns:p14="http://schemas.microsoft.com/office/powerpoint/2010/main" val="296503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5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SPEC · DEV Environment · DEV Key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request → Dev team issues → Sales → Client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Training | API Integration Process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17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Action Checklist</a:t>
            </a:r>
            <a:endParaRPr lang="en-US" sz="120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45336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15087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Store signed PDF on both sides (OMH HQ / Client)</a:t>
            </a:r>
            <a:endParaRPr lang="en-US" sz="110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92808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" y="18562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Request DEV Credential from dev team (Sales)</a:t>
            </a:r>
            <a:endParaRPr lang="en-US" sz="110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40280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1520" y="220370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Share API SPEC Site (developer.ohmyhotel.com)</a:t>
            </a:r>
            <a:endParaRPr lang="en-US" sz="110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87752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" y="25511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Deliver DEV URL + DEV Key (Token · Secret)</a:t>
            </a:r>
            <a:endParaRPr lang="en-US" sz="110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35224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31520" y="28986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Collect client IT contacts + access IP addresses</a:t>
            </a:r>
            <a:endParaRPr lang="en-US" sz="110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82696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31520" y="32461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Connect OMH tech team (@API SUPPORT)</a:t>
            </a:r>
            <a:endParaRPr lang="en-US" sz="110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30168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31520" y="35935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Create MS Teams group → IT-to-IT direct comms</a:t>
            </a:r>
            <a:endParaRPr lang="en-US" sz="1100"/>
          </a:p>
        </p:txBody>
      </p:sp>
      <p:sp>
        <p:nvSpPr>
          <p:cNvPr id="24" name="Shape 15"/>
          <p:cNvSpPr/>
          <p:nvPr/>
        </p:nvSpPr>
        <p:spPr>
          <a:xfrm>
            <a:off x="5212080" y="1188720"/>
            <a:ext cx="3474720" cy="3337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6"/>
          <p:cNvSpPr/>
          <p:nvPr/>
        </p:nvSpPr>
        <p:spPr>
          <a:xfrm>
            <a:off x="5349240" y="1298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 Delivery Package</a:t>
            </a:r>
            <a:endParaRPr lang="en-US" sz="110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1737360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852160" y="169164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Signed Contract</a:t>
            </a:r>
            <a:endParaRPr lang="en-US" sz="1100"/>
          </a:p>
        </p:txBody>
      </p:sp>
      <p:sp>
        <p:nvSpPr>
          <p:cNvPr id="28" name="Text 18"/>
          <p:cNvSpPr/>
          <p:nvPr/>
        </p:nvSpPr>
        <p:spPr>
          <a:xfrm>
            <a:off x="5852160" y="192024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Signed PDF, both parties</a:t>
            </a:r>
            <a:endParaRPr lang="en-US" sz="95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2286000"/>
            <a:ext cx="274320" cy="27432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852160" y="224028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SPEC Site</a:t>
            </a:r>
            <a:endParaRPr lang="en-US" sz="1100"/>
          </a:p>
        </p:txBody>
      </p:sp>
      <p:sp>
        <p:nvSpPr>
          <p:cNvPr id="31" name="Text 20"/>
          <p:cNvSpPr/>
          <p:nvPr/>
        </p:nvSpPr>
        <p:spPr>
          <a:xfrm>
            <a:off x="5852160" y="246888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developer.ohmyhotel.com</a:t>
            </a:r>
            <a:endParaRPr lang="en-US" sz="95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834640"/>
            <a:ext cx="274320" cy="27432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5852160" y="278892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 Environment</a:t>
            </a:r>
            <a:endParaRPr lang="en-US" sz="1100"/>
          </a:p>
        </p:txBody>
      </p:sp>
      <p:sp>
        <p:nvSpPr>
          <p:cNvPr id="34" name="Text 22"/>
          <p:cNvSpPr/>
          <p:nvPr/>
        </p:nvSpPr>
        <p:spPr>
          <a:xfrm>
            <a:off x="5852160" y="301752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dev-api-ota-v2.ohmyhotel.com</a:t>
            </a:r>
            <a:endParaRPr lang="en-US" sz="95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680" y="3383280"/>
            <a:ext cx="274320" cy="274320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5852160" y="333756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 Credential Key</a:t>
            </a:r>
            <a:endParaRPr lang="en-US" sz="1100"/>
          </a:p>
        </p:txBody>
      </p:sp>
      <p:sp>
        <p:nvSpPr>
          <p:cNvPr id="37" name="Text 24"/>
          <p:cNvSpPr/>
          <p:nvPr/>
        </p:nvSpPr>
        <p:spPr>
          <a:xfrm>
            <a:off x="5852160" y="35661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Token + Secret (issued by dev team)</a:t>
            </a:r>
            <a:endParaRPr lang="en-US" sz="950"/>
          </a:p>
        </p:txBody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0680" y="3931920"/>
            <a:ext cx="274320" cy="274320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5852160" y="388620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Teams Channel</a:t>
            </a:r>
            <a:endParaRPr lang="en-US" sz="1100"/>
          </a:p>
        </p:txBody>
      </p:sp>
      <p:sp>
        <p:nvSpPr>
          <p:cNvPr id="40" name="Text 26"/>
          <p:cNvSpPr/>
          <p:nvPr/>
        </p:nvSpPr>
        <p:spPr>
          <a:xfrm>
            <a:off x="5852160" y="411480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 IT ↔ OMH Dev Team</a:t>
            </a:r>
            <a:endParaRPr lang="en-US" sz="950"/>
          </a:p>
        </p:txBody>
      </p:sp>
    </p:spTree>
    <p:extLst>
      <p:ext uri="{BB962C8B-B14F-4D97-AF65-F5344CB8AC3E}">
        <p14:creationId xmlns:p14="http://schemas.microsoft.com/office/powerpoint/2010/main" val="196559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6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Scenario &amp; Staging Test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Distribute scenario → staging test → submit Cert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Training | API Integration Process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17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Provided by OMH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9436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Client Certification V2.1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594360" y="18013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 / 3rd include / Package rate → unify into one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94360" y="2240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Hotel Static Information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594360" y="24871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Hotel master + room info (weekly update)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94360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Staging environment + test hotel code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594360" y="3172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Common scenarios on Hotel Code 764481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9436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debugging support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594360" y="3858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Real-time IT-to-IT response via Teams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5029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 Deliverables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5029200" y="1508760"/>
            <a:ext cx="3657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029200" y="1508760"/>
            <a:ext cx="73152" cy="59436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212080" y="1554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Test Result + Log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5212080" y="18013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 6 API request/response sets (Availability → Cancel)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5029200" y="2194560"/>
            <a:ext cx="3657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029200" y="2194560"/>
            <a:ext cx="73152" cy="59436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212080" y="2240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Completed Certification Form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5212080" y="24871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 Detail · Technical Support · access IPs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5029200" y="2880360"/>
            <a:ext cx="3657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029200" y="2880360"/>
            <a:ext cx="73152" cy="59436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212080" y="2926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Voucher screen capture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5212080" y="31729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Must show Payable by + Emergency contact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5029200" y="3566160"/>
            <a:ext cx="3657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5029200" y="3566160"/>
            <a:ext cx="73152" cy="59436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212080" y="3611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 Acknowledgement sign-off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5212080" y="3858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items incl. static storage, mapping, MSP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▸ Communication rule — Client IT ↔ OMH Dev Team direct. Sales manages schedule and escalation (PM mode)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780447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7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Completion &amp; Deposit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Two prerequisites for live key issuance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Training | API Integration Process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17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completion → payment process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1600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86868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Receive Cert document + logs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868680" y="1810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 IT submits directly to OMH dev team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617220" y="1938528"/>
            <a:ext cx="0" cy="164592"/>
          </a:xfrm>
          <a:prstGeom prst="line">
            <a:avLst/>
          </a:prstGeom>
          <a:noFill/>
          <a:ln w="19050">
            <a:solidFill>
              <a:srgbClr val="E5E7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720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86868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verification by dev team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868680" y="2359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 6 API responses · voucher requirements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617220" y="2487168"/>
            <a:ext cx="0" cy="164592"/>
          </a:xfrm>
          <a:prstGeom prst="line">
            <a:avLst/>
          </a:prstGeom>
          <a:noFill/>
          <a:ln w="19050">
            <a:solidFill>
              <a:srgbClr val="E5E7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57200" y="269748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86868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completion (Pass) decision</a:t>
            </a:r>
            <a:endParaRPr lang="en-US" sz="115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Re-test requested for any gap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617220" y="3035808"/>
            <a:ext cx="0" cy="164592"/>
          </a:xfrm>
          <a:prstGeom prst="line">
            <a:avLst/>
          </a:prstGeom>
          <a:noFill/>
          <a:ln w="19050">
            <a:solidFill>
              <a:srgbClr val="E5E7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5720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86868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Deposit payment request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868680" y="3456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Designated USD account · bank fee borne by Party B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617220" y="3584448"/>
            <a:ext cx="0" cy="164592"/>
          </a:xfrm>
          <a:prstGeom prst="line">
            <a:avLst/>
          </a:prstGeom>
          <a:noFill/>
          <a:ln w="19050">
            <a:solidFill>
              <a:srgbClr val="E5E7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57200" y="379476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5720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86868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 confirmed → live key approved</a:t>
            </a:r>
            <a:endParaRPr lang="en-US" sz="1150"/>
          </a:p>
        </p:txBody>
      </p:sp>
      <p:sp>
        <p:nvSpPr>
          <p:cNvPr id="33" name="Text 31"/>
          <p:cNvSpPr/>
          <p:nvPr/>
        </p:nvSpPr>
        <p:spPr>
          <a:xfrm>
            <a:off x="868680" y="4005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Cert Pass AND deposit — both conditions required</a:t>
            </a:r>
            <a:endParaRPr lang="en-US" sz="1000"/>
          </a:p>
        </p:txBody>
      </p:sp>
      <p:sp>
        <p:nvSpPr>
          <p:cNvPr id="34" name="Shape 32"/>
          <p:cNvSpPr/>
          <p:nvPr/>
        </p:nvSpPr>
        <p:spPr>
          <a:xfrm>
            <a:off x="5029200" y="1188720"/>
            <a:ext cx="3657600" cy="3337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21208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Linkstay Payment Example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5212080" y="16916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 10,000</a:t>
            </a:r>
            <a:endParaRPr lang="en-US" sz="3600"/>
          </a:p>
        </p:txBody>
      </p:sp>
      <p:sp>
        <p:nvSpPr>
          <p:cNvPr id="37" name="Text 35"/>
          <p:cNvSpPr/>
          <p:nvPr/>
        </p:nvSpPr>
        <p:spPr>
          <a:xfrm>
            <a:off x="5212080" y="2331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Deposit · Credit Ratio 1:1</a:t>
            </a:r>
            <a:endParaRPr lang="en-US" sz="1100"/>
          </a:p>
        </p:txBody>
      </p:sp>
      <p:sp>
        <p:nvSpPr>
          <p:cNvPr id="38" name="Shape 36"/>
          <p:cNvSpPr/>
          <p:nvPr/>
        </p:nvSpPr>
        <p:spPr>
          <a:xfrm>
            <a:off x="5212080" y="2697480"/>
            <a:ext cx="3291840" cy="0"/>
          </a:xfrm>
          <a:prstGeom prst="line">
            <a:avLst/>
          </a:prstGeom>
          <a:noFill/>
          <a:ln w="12700">
            <a:solidFill>
              <a:srgbClr val="F9A8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212080" y="2834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 Currency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6675120" y="28346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</a:t>
            </a:r>
            <a:endParaRPr lang="en-US" sz="1000"/>
          </a:p>
        </p:txBody>
      </p:sp>
      <p:sp>
        <p:nvSpPr>
          <p:cNvPr id="41" name="Text 39"/>
          <p:cNvSpPr/>
          <p:nvPr/>
        </p:nvSpPr>
        <p:spPr>
          <a:xfrm>
            <a:off x="5212080" y="31638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Bank Fee</a:t>
            </a:r>
            <a:endParaRPr lang="en-US" sz="1000"/>
          </a:p>
        </p:txBody>
      </p:sp>
      <p:sp>
        <p:nvSpPr>
          <p:cNvPr id="42" name="Text 40"/>
          <p:cNvSpPr/>
          <p:nvPr/>
        </p:nvSpPr>
        <p:spPr>
          <a:xfrm>
            <a:off x="6675120" y="31638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Paid by Linkstay</a:t>
            </a:r>
            <a:endParaRPr lang="en-US" sz="1000"/>
          </a:p>
        </p:txBody>
      </p:sp>
      <p:sp>
        <p:nvSpPr>
          <p:cNvPr id="43" name="Text 41"/>
          <p:cNvSpPr/>
          <p:nvPr/>
        </p:nvSpPr>
        <p:spPr>
          <a:xfrm>
            <a:off x="5212080" y="3493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Transfer Date</a:t>
            </a:r>
            <a:endParaRPr lang="en-US" sz="1000"/>
          </a:p>
        </p:txBody>
      </p:sp>
      <p:sp>
        <p:nvSpPr>
          <p:cNvPr id="44" name="Text 42"/>
          <p:cNvSpPr/>
          <p:nvPr/>
        </p:nvSpPr>
        <p:spPr>
          <a:xfrm>
            <a:off x="6675120" y="3493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2026.04.30</a:t>
            </a:r>
            <a:endParaRPr lang="en-US" sz="1000"/>
          </a:p>
        </p:txBody>
      </p:sp>
      <p:sp>
        <p:nvSpPr>
          <p:cNvPr id="45" name="Text 43"/>
          <p:cNvSpPr/>
          <p:nvPr/>
        </p:nvSpPr>
        <p:spPr>
          <a:xfrm>
            <a:off x="5212080" y="38221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Proof Provided</a:t>
            </a:r>
            <a:endParaRPr lang="en-US" sz="1000"/>
          </a:p>
        </p:txBody>
      </p:sp>
      <p:sp>
        <p:nvSpPr>
          <p:cNvPr id="46" name="Text 44"/>
          <p:cNvSpPr/>
          <p:nvPr/>
        </p:nvSpPr>
        <p:spPr>
          <a:xfrm>
            <a:off x="6675120" y="3822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Wire transfer receipt PDF</a:t>
            </a:r>
            <a:endParaRPr lang="en-US" sz="1000"/>
          </a:p>
        </p:txBody>
      </p:sp>
      <p:sp>
        <p:nvSpPr>
          <p:cNvPr id="47" name="Text 45"/>
          <p:cNvSpPr/>
          <p:nvPr/>
        </p:nvSpPr>
        <p:spPr>
          <a:xfrm>
            <a:off x="5212080" y="41513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Credentials Issued</a:t>
            </a:r>
            <a:endParaRPr lang="en-US" sz="1000"/>
          </a:p>
        </p:txBody>
      </p:sp>
      <p:sp>
        <p:nvSpPr>
          <p:cNvPr id="48" name="Text 46"/>
          <p:cNvSpPr/>
          <p:nvPr/>
        </p:nvSpPr>
        <p:spPr>
          <a:xfrm>
            <a:off x="6675120" y="41513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OMH review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962072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8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Certification (Live Key) &amp; Live Test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 team → Sales → Client delivery + live booking check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Training | API Integration Process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17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key issuance procedure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1673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960120" y="15819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key issued (dev team)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960120" y="18562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 credentials created after Cert Pass + payment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24048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960120" y="23134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Delivered via Sales</a:t>
            </a:r>
            <a:endParaRPr lang="en-US" sz="1150"/>
          </a:p>
        </p:txBody>
      </p:sp>
      <p:sp>
        <p:nvSpPr>
          <p:cNvPr id="17" name="Text 15"/>
          <p:cNvSpPr/>
          <p:nvPr/>
        </p:nvSpPr>
        <p:spPr>
          <a:xfrm>
            <a:off x="960120" y="25877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 team → Sales → Client (log the handover)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8640" y="3136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960120" y="30449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Apply to PROD + live test booking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960120" y="33192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 least one booking + booking number returned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48640" y="3867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/>
          </a:p>
        </p:txBody>
      </p:sp>
      <p:sp>
        <p:nvSpPr>
          <p:cNvPr id="24" name="Text 22"/>
          <p:cNvSpPr/>
          <p:nvPr/>
        </p:nvSpPr>
        <p:spPr>
          <a:xfrm>
            <a:off x="960120" y="37764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confirms booking → Go-Live notice</a:t>
            </a:r>
            <a:endParaRPr lang="en-US" sz="1150"/>
          </a:p>
        </p:txBody>
      </p:sp>
      <p:sp>
        <p:nvSpPr>
          <p:cNvPr id="25" name="Text 23"/>
          <p:cNvSpPr/>
          <p:nvPr/>
        </p:nvSpPr>
        <p:spPr>
          <a:xfrm>
            <a:off x="960120" y="40507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Verify in ELLIS, then announce launch D-Day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5029200" y="1188720"/>
            <a:ext cx="36576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21208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Channel Information (Both Sides)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5212080" y="1600200"/>
            <a:ext cx="3291840" cy="73152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212080" y="1709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Channel BD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6629400" y="17099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 partnerships &amp; expansion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5212080" y="2011680"/>
            <a:ext cx="3291840" cy="7315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212080" y="2121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6629400" y="21214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Customer support, refunds, VOC</a:t>
            </a:r>
            <a:endParaRPr lang="en-US" sz="1000"/>
          </a:p>
        </p:txBody>
      </p:sp>
      <p:sp>
        <p:nvSpPr>
          <p:cNvPr id="34" name="Shape 32"/>
          <p:cNvSpPr/>
          <p:nvPr/>
        </p:nvSpPr>
        <p:spPr>
          <a:xfrm>
            <a:off x="5212080" y="2423160"/>
            <a:ext cx="3291840" cy="7315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212080" y="2532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6629400" y="2532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Booking processing &amp; inventory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5212080" y="2834640"/>
            <a:ext cx="3291840" cy="7315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212080" y="2944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Finance</a:t>
            </a:r>
            <a:endParaRPr lang="en-US" sz="1100"/>
          </a:p>
        </p:txBody>
      </p:sp>
      <p:sp>
        <p:nvSpPr>
          <p:cNvPr id="39" name="Text 37"/>
          <p:cNvSpPr/>
          <p:nvPr/>
        </p:nvSpPr>
        <p:spPr>
          <a:xfrm>
            <a:off x="6629400" y="29443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Settlement, invoices, tax</a:t>
            </a:r>
            <a:endParaRPr lang="en-US" sz="1000"/>
          </a:p>
        </p:txBody>
      </p:sp>
      <p:sp>
        <p:nvSpPr>
          <p:cNvPr id="40" name="Shape 38"/>
          <p:cNvSpPr/>
          <p:nvPr/>
        </p:nvSpPr>
        <p:spPr>
          <a:xfrm>
            <a:off x="5212080" y="3246120"/>
            <a:ext cx="3291840" cy="7315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5212080" y="3355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</a:t>
            </a:r>
            <a:endParaRPr lang="en-US" sz="1100"/>
          </a:p>
        </p:txBody>
      </p:sp>
      <p:sp>
        <p:nvSpPr>
          <p:cNvPr id="42" name="Text 40"/>
          <p:cNvSpPr/>
          <p:nvPr/>
        </p:nvSpPr>
        <p:spPr>
          <a:xfrm>
            <a:off x="6629400" y="33558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&amp; system incident response</a:t>
            </a:r>
            <a:endParaRPr lang="en-US" sz="1000"/>
          </a:p>
        </p:txBody>
      </p:sp>
      <p:sp>
        <p:nvSpPr>
          <p:cNvPr id="43" name="Shape 41"/>
          <p:cNvSpPr/>
          <p:nvPr/>
        </p:nvSpPr>
        <p:spPr>
          <a:xfrm>
            <a:off x="5212080" y="3703320"/>
            <a:ext cx="329184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5303520" y="37490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VN OP Hours (Reference)</a:t>
            </a:r>
            <a:endParaRPr lang="en-US" sz="900"/>
          </a:p>
        </p:txBody>
      </p:sp>
      <p:sp>
        <p:nvSpPr>
          <p:cNvPr id="45" name="Text 43"/>
          <p:cNvSpPr/>
          <p:nvPr/>
        </p:nvSpPr>
        <p:spPr>
          <a:xfrm>
            <a:off x="5303520" y="39502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Weekdays </a:t>
            </a:r>
            <a:r>
              <a:rPr lang="en-US" sz="90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06:00–17:15 (Office) / 17:15–22:30 (Hotline)</a:t>
            </a:r>
            <a:endParaRPr lang="en-US" sz="900"/>
          </a:p>
          <a:p>
            <a:pPr marL="0" indent="0" algn="l">
              <a:buNone/>
            </a:pPr>
            <a:r>
              <a:rPr lang="en-US" sz="9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Weekends </a:t>
            </a:r>
            <a:r>
              <a:rPr lang="en-US" sz="90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08:00–20:00 (Hotline)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935037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9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Go-Live / Live Completion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Official launch + early monitoring + sell-through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Training | API Integration Process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17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2697480" cy="640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13075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Pre-Launch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640080" y="16002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D-7 ~ D-1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2697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40080" y="214884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22960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Officially confirm Go-Live date with both sides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640080" y="2715768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22960" y="26243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Assign IT monitoring shifts on both sides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640080" y="328269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2960" y="319125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Pre-brief OMH OP/CS teams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640080" y="384962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22960" y="375818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check of initial inventory &amp; rates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3273552" y="1234440"/>
            <a:ext cx="2697480" cy="64008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456432" y="13075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Launch Day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3456432" y="16002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D-Day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3273552" y="1874520"/>
            <a:ext cx="2697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456432" y="2148840"/>
            <a:ext cx="91440" cy="91440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639312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Activate live channel (toggle on client side)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3456432" y="2715768"/>
            <a:ext cx="91440" cy="91440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639312" y="26243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dev team on standby (instant Teams response)</a:t>
            </a:r>
            <a:endParaRPr lang="en-US" sz="1050"/>
          </a:p>
        </p:txBody>
      </p:sp>
      <p:sp>
        <p:nvSpPr>
          <p:cNvPr id="29" name="Shape 27"/>
          <p:cNvSpPr/>
          <p:nvPr/>
        </p:nvSpPr>
        <p:spPr>
          <a:xfrm>
            <a:off x="3456432" y="3282696"/>
            <a:ext cx="91440" cy="91440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639312" y="319125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IT on standby (instant Teams response)</a:t>
            </a:r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3456432" y="3849624"/>
            <a:ext cx="91440" cy="91440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3639312" y="375818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is the communication hub for both sides</a:t>
            </a:r>
            <a:endParaRPr lang="en-US" sz="1050"/>
          </a:p>
        </p:txBody>
      </p:sp>
      <p:sp>
        <p:nvSpPr>
          <p:cNvPr id="33" name="Shape 31"/>
          <p:cNvSpPr/>
          <p:nvPr/>
        </p:nvSpPr>
        <p:spPr>
          <a:xfrm>
            <a:off x="6089904" y="1234440"/>
            <a:ext cx="2697480" cy="640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272784" y="13075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Post-Launch</a:t>
            </a:r>
            <a:endParaRPr lang="en-US" sz="1400"/>
          </a:p>
        </p:txBody>
      </p:sp>
      <p:sp>
        <p:nvSpPr>
          <p:cNvPr id="35" name="Text 33"/>
          <p:cNvSpPr/>
          <p:nvPr/>
        </p:nvSpPr>
        <p:spPr>
          <a:xfrm>
            <a:off x="6272784" y="16002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D+1 ~ D+30</a:t>
            </a:r>
            <a:endParaRPr lang="en-US" sz="1000"/>
          </a:p>
        </p:txBody>
      </p:sp>
      <p:sp>
        <p:nvSpPr>
          <p:cNvPr id="36" name="Shape 34"/>
          <p:cNvSpPr/>
          <p:nvPr/>
        </p:nvSpPr>
        <p:spPr>
          <a:xfrm>
            <a:off x="6089904" y="1874520"/>
            <a:ext cx="2697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6272784" y="214884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455664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Share weekly booking/revenue data</a:t>
            </a:r>
            <a:endParaRPr lang="en-US" sz="1050"/>
          </a:p>
        </p:txBody>
      </p:sp>
      <p:sp>
        <p:nvSpPr>
          <p:cNvPr id="39" name="Shape 37"/>
          <p:cNvSpPr/>
          <p:nvPr/>
        </p:nvSpPr>
        <p:spPr>
          <a:xfrm>
            <a:off x="6272784" y="2715768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455664" y="26243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Monitor error &amp; cancellation rates</a:t>
            </a:r>
            <a:endParaRPr lang="en-US" sz="1050"/>
          </a:p>
        </p:txBody>
      </p:sp>
      <p:sp>
        <p:nvSpPr>
          <p:cNvPr id="41" name="Shape 39"/>
          <p:cNvSpPr/>
          <p:nvPr/>
        </p:nvSpPr>
        <p:spPr>
          <a:xfrm>
            <a:off x="6272784" y="328269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455664" y="319125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Recommend strengthening top-selling hotels</a:t>
            </a:r>
            <a:endParaRPr lang="en-US" sz="1050"/>
          </a:p>
        </p:txBody>
      </p:sp>
      <p:sp>
        <p:nvSpPr>
          <p:cNvPr id="43" name="Shape 41"/>
          <p:cNvSpPr/>
          <p:nvPr/>
        </p:nvSpPr>
        <p:spPr>
          <a:xfrm>
            <a:off x="6272784" y="384962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455664" y="375818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 monthly settlement cycle</a:t>
            </a:r>
            <a:endParaRPr lang="en-US" sz="1050"/>
          </a:p>
        </p:txBody>
      </p:sp>
      <p:sp>
        <p:nvSpPr>
          <p:cNvPr id="45" name="Shape 43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Linkstay actual: Cert passed (Apr 29) → deposit (Apr 30) → live key issued → Live Test (May 7) → live completion (May) — about 2 weeks</a:t>
            </a:r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1556858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Standard Commercial Terms</a:t>
            </a:r>
            <a:endParaRPr lang="en-US" sz="220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baselines you must know before negotiating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Training | API Integration Process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17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46304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Term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1920240" y="1280160"/>
            <a:ext cx="164592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011680" y="1280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Standard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3566160" y="1280160"/>
            <a:ext cx="310896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657600" y="1280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Negotiable Range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6675120" y="1280160"/>
            <a:ext cx="201168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766560" y="1280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Authority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457200" y="1691640"/>
            <a:ext cx="14630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640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Deposit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1920240" y="1691640"/>
            <a:ext cx="16459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011680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 30,000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3566160" y="1691640"/>
            <a:ext cx="31089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65760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 10,000 (Tier 1 clients) – Bank Guarantee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6675120" y="1691640"/>
            <a:ext cx="20116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76656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Director approval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57200" y="2057400"/>
            <a:ext cx="146304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48640" y="2057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Credit Ratio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1920240" y="2057400"/>
            <a:ext cx="164592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01168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3566160" y="2057400"/>
            <a:ext cx="310896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657600" y="2057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Non-negotiable (principle)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6675120" y="2057400"/>
            <a:ext cx="201168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76656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 concessions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457200" y="2423160"/>
            <a:ext cx="14630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48640" y="2423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Currency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1920240" y="2423160"/>
            <a:ext cx="16459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2011680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3566160" y="2423160"/>
            <a:ext cx="31089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3657600" y="2423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Stick to USD (decline JPY/KRW/CNY requests)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6675120" y="2423160"/>
            <a:ext cx="20116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76656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Consult Director in advance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457200" y="2788920"/>
            <a:ext cx="146304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48640" y="2788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Settlement</a:t>
            </a:r>
            <a:endParaRPr lang="en-US" sz="1000"/>
          </a:p>
        </p:txBody>
      </p:sp>
      <p:sp>
        <p:nvSpPr>
          <p:cNvPr id="41" name="Shape 39"/>
          <p:cNvSpPr/>
          <p:nvPr/>
        </p:nvSpPr>
        <p:spPr>
          <a:xfrm>
            <a:off x="1920240" y="2788920"/>
            <a:ext cx="164592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2011680" y="2788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Bi-Weekly</a:t>
            </a:r>
            <a:endParaRPr lang="en-US" sz="1000"/>
          </a:p>
        </p:txBody>
      </p:sp>
      <p:sp>
        <p:nvSpPr>
          <p:cNvPr id="43" name="Shape 41"/>
          <p:cNvSpPr/>
          <p:nvPr/>
        </p:nvSpPr>
        <p:spPr>
          <a:xfrm>
            <a:off x="3566160" y="2788920"/>
            <a:ext cx="310896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3657600" y="2788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Bi-Weekly (cycle non-negotiable)</a:t>
            </a:r>
            <a:endParaRPr lang="en-US" sz="1000"/>
          </a:p>
        </p:txBody>
      </p:sp>
      <p:sp>
        <p:nvSpPr>
          <p:cNvPr id="45" name="Shape 43"/>
          <p:cNvSpPr/>
          <p:nvPr/>
        </p:nvSpPr>
        <p:spPr>
          <a:xfrm>
            <a:off x="6675120" y="2788920"/>
            <a:ext cx="201168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76656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 concessions</a:t>
            </a:r>
            <a:endParaRPr lang="en-US" sz="1000"/>
          </a:p>
        </p:txBody>
      </p:sp>
      <p:sp>
        <p:nvSpPr>
          <p:cNvPr id="47" name="Shape 45"/>
          <p:cNvSpPr/>
          <p:nvPr/>
        </p:nvSpPr>
        <p:spPr>
          <a:xfrm>
            <a:off x="457200" y="3154680"/>
            <a:ext cx="14630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54864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Settlement Basis</a:t>
            </a:r>
            <a:endParaRPr lang="en-US" sz="1000"/>
          </a:p>
        </p:txBody>
      </p:sp>
      <p:sp>
        <p:nvSpPr>
          <p:cNvPr id="49" name="Shape 47"/>
          <p:cNvSpPr/>
          <p:nvPr/>
        </p:nvSpPr>
        <p:spPr>
          <a:xfrm>
            <a:off x="1920240" y="3154680"/>
            <a:ext cx="16459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2011680" y="3154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Based on check-out</a:t>
            </a:r>
            <a:endParaRPr lang="en-US" sz="1000"/>
          </a:p>
        </p:txBody>
      </p:sp>
      <p:sp>
        <p:nvSpPr>
          <p:cNvPr id="51" name="Shape 49"/>
          <p:cNvSpPr/>
          <p:nvPr/>
        </p:nvSpPr>
        <p:spPr>
          <a:xfrm>
            <a:off x="3566160" y="3154680"/>
            <a:ext cx="31089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365760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Keep check-out basis</a:t>
            </a:r>
            <a:endParaRPr lang="en-US" sz="1000"/>
          </a:p>
        </p:txBody>
      </p:sp>
      <p:sp>
        <p:nvSpPr>
          <p:cNvPr id="53" name="Shape 51"/>
          <p:cNvSpPr/>
          <p:nvPr/>
        </p:nvSpPr>
        <p:spPr>
          <a:xfrm>
            <a:off x="6675120" y="3154680"/>
            <a:ext cx="20116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676656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 concessions</a:t>
            </a:r>
            <a:endParaRPr lang="en-US" sz="1000"/>
          </a:p>
        </p:txBody>
      </p:sp>
      <p:sp>
        <p:nvSpPr>
          <p:cNvPr id="55" name="Shape 53"/>
          <p:cNvSpPr/>
          <p:nvPr/>
        </p:nvSpPr>
        <p:spPr>
          <a:xfrm>
            <a:off x="457200" y="3520440"/>
            <a:ext cx="146304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548640" y="3520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Bank Fee</a:t>
            </a:r>
            <a:endParaRPr lang="en-US" sz="1000"/>
          </a:p>
        </p:txBody>
      </p:sp>
      <p:sp>
        <p:nvSpPr>
          <p:cNvPr id="57" name="Shape 55"/>
          <p:cNvSpPr/>
          <p:nvPr/>
        </p:nvSpPr>
        <p:spPr>
          <a:xfrm>
            <a:off x="1920240" y="3520440"/>
            <a:ext cx="164592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2011680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Paid by Party B (client)</a:t>
            </a:r>
            <a:endParaRPr lang="en-US" sz="1000"/>
          </a:p>
        </p:txBody>
      </p:sp>
      <p:sp>
        <p:nvSpPr>
          <p:cNvPr id="59" name="Shape 57"/>
          <p:cNvSpPr/>
          <p:nvPr/>
        </p:nvSpPr>
        <p:spPr>
          <a:xfrm>
            <a:off x="3566160" y="3520440"/>
            <a:ext cx="310896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365760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 concessions</a:t>
            </a:r>
            <a:endParaRPr lang="en-US" sz="1000"/>
          </a:p>
        </p:txBody>
      </p:sp>
      <p:sp>
        <p:nvSpPr>
          <p:cNvPr id="61" name="Shape 59"/>
          <p:cNvSpPr/>
          <p:nvPr/>
        </p:nvSpPr>
        <p:spPr>
          <a:xfrm>
            <a:off x="6675120" y="3520440"/>
            <a:ext cx="201168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676656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 concessions</a:t>
            </a:r>
            <a:endParaRPr lang="en-US" sz="1000"/>
          </a:p>
        </p:txBody>
      </p:sp>
      <p:sp>
        <p:nvSpPr>
          <p:cNvPr id="63" name="Shape 61"/>
          <p:cNvSpPr/>
          <p:nvPr/>
        </p:nvSpPr>
        <p:spPr>
          <a:xfrm>
            <a:off x="457200" y="3886200"/>
            <a:ext cx="14630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548640" y="3886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 Penalty</a:t>
            </a:r>
            <a:endParaRPr lang="en-US" sz="1000"/>
          </a:p>
        </p:txBody>
      </p:sp>
      <p:sp>
        <p:nvSpPr>
          <p:cNvPr id="65" name="Shape 63"/>
          <p:cNvSpPr/>
          <p:nvPr/>
        </p:nvSpPr>
        <p:spPr>
          <a:xfrm>
            <a:off x="1920240" y="3886200"/>
            <a:ext cx="16459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2011680" y="3886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1% / Day</a:t>
            </a:r>
            <a:endParaRPr lang="en-US" sz="1000"/>
          </a:p>
        </p:txBody>
      </p:sp>
      <p:sp>
        <p:nvSpPr>
          <p:cNvPr id="67" name="Shape 65"/>
          <p:cNvSpPr/>
          <p:nvPr/>
        </p:nvSpPr>
        <p:spPr>
          <a:xfrm>
            <a:off x="3566160" y="3886200"/>
            <a:ext cx="31089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3657600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Proviso possible: waived during disputes</a:t>
            </a:r>
            <a:endParaRPr lang="en-US" sz="1000"/>
          </a:p>
        </p:txBody>
      </p:sp>
      <p:sp>
        <p:nvSpPr>
          <p:cNvPr id="69" name="Shape 67"/>
          <p:cNvSpPr/>
          <p:nvPr/>
        </p:nvSpPr>
        <p:spPr>
          <a:xfrm>
            <a:off x="6675120" y="3886200"/>
            <a:ext cx="20116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676656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Consult Director</a:t>
            </a:r>
            <a:endParaRPr lang="en-US" sz="1000"/>
          </a:p>
        </p:txBody>
      </p:sp>
      <p:sp>
        <p:nvSpPr>
          <p:cNvPr id="71" name="Shape 69"/>
          <p:cNvSpPr/>
          <p:nvPr/>
        </p:nvSpPr>
        <p:spPr>
          <a:xfrm>
            <a:off x="457200" y="4251960"/>
            <a:ext cx="146304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548640" y="4251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Billing Dispute</a:t>
            </a:r>
            <a:endParaRPr lang="en-US" sz="1000"/>
          </a:p>
        </p:txBody>
      </p:sp>
      <p:sp>
        <p:nvSpPr>
          <p:cNvPr id="73" name="Shape 71"/>
          <p:cNvSpPr/>
          <p:nvPr/>
        </p:nvSpPr>
        <p:spPr>
          <a:xfrm>
            <a:off x="1920240" y="4251960"/>
            <a:ext cx="164592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2011680" y="4251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Working Days</a:t>
            </a:r>
            <a:endParaRPr lang="en-US" sz="1000"/>
          </a:p>
        </p:txBody>
      </p:sp>
      <p:sp>
        <p:nvSpPr>
          <p:cNvPr id="75" name="Shape 73"/>
          <p:cNvSpPr/>
          <p:nvPr/>
        </p:nvSpPr>
        <p:spPr>
          <a:xfrm>
            <a:off x="3566160" y="4251960"/>
            <a:ext cx="310896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3657600" y="4251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Negotiable up to 10 working days</a:t>
            </a:r>
            <a:endParaRPr lang="en-US" sz="1000"/>
          </a:p>
        </p:txBody>
      </p:sp>
      <p:sp>
        <p:nvSpPr>
          <p:cNvPr id="77" name="Shape 75"/>
          <p:cNvSpPr/>
          <p:nvPr/>
        </p:nvSpPr>
        <p:spPr>
          <a:xfrm>
            <a:off x="6675120" y="4251960"/>
            <a:ext cx="201168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/>
          <p:nvPr/>
        </p:nvSpPr>
        <p:spPr>
          <a:xfrm>
            <a:off x="676656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Consult Manager</a:t>
            </a:r>
            <a:endParaRPr lang="en-US" sz="1000"/>
          </a:p>
        </p:txBody>
      </p:sp>
      <p:sp>
        <p:nvSpPr>
          <p:cNvPr id="79" name="Text 77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Sales authority is a guideline; final approval always follows OMH HQ procedures.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853897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5-Step API Integration Process</a:t>
            </a:r>
            <a:endParaRPr lang="en-US" sz="220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SPEC·DEV Key → Staging Test → Test Complete → Live Key → Live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Training | API Integration Process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17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508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50876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05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2024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23774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SPEC + DEV env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DEV Key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 → Sales → Client</a:t>
            </a:r>
            <a:endParaRPr lang="en-US" sz="90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4248" y="2171700"/>
            <a:ext cx="146304" cy="14630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148840" y="1371600"/>
            <a:ext cx="1508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2148840" y="1371600"/>
            <a:ext cx="150876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2148840" y="1371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05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19202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240280" y="23774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Unified scenario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staging test</a:t>
            </a:r>
            <a:endParaRPr lang="en-US" sz="1100"/>
          </a:p>
        </p:txBody>
      </p:sp>
      <p:sp>
        <p:nvSpPr>
          <p:cNvPr id="19" name="Text 14"/>
          <p:cNvSpPr/>
          <p:nvPr/>
        </p:nvSpPr>
        <p:spPr>
          <a:xfrm>
            <a:off x="2240280" y="28803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 IT ↔ OMH Dev</a:t>
            </a:r>
            <a:endParaRPr lang="en-US" sz="90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888" y="2171700"/>
            <a:ext cx="146304" cy="146304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3840480" y="1371600"/>
            <a:ext cx="1508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6"/>
          <p:cNvSpPr/>
          <p:nvPr/>
        </p:nvSpPr>
        <p:spPr>
          <a:xfrm>
            <a:off x="3840480" y="1371600"/>
            <a:ext cx="150876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7"/>
          <p:cNvSpPr/>
          <p:nvPr/>
        </p:nvSpPr>
        <p:spPr>
          <a:xfrm>
            <a:off x="3840480" y="1371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05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1920240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931920" y="23774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completion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(Result + Log)</a:t>
            </a:r>
            <a:endParaRPr lang="en-US" sz="1100"/>
          </a:p>
        </p:txBody>
      </p:sp>
      <p:sp>
        <p:nvSpPr>
          <p:cNvPr id="26" name="Text 19"/>
          <p:cNvSpPr/>
          <p:nvPr/>
        </p:nvSpPr>
        <p:spPr>
          <a:xfrm>
            <a:off x="3931920" y="28803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 → OMH Dev Team</a:t>
            </a:r>
            <a:endParaRPr lang="en-US" sz="90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528" y="2171700"/>
            <a:ext cx="146304" cy="146304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5532120" y="1371600"/>
            <a:ext cx="1508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1"/>
          <p:cNvSpPr/>
          <p:nvPr/>
        </p:nvSpPr>
        <p:spPr>
          <a:xfrm>
            <a:off x="5532120" y="1371600"/>
            <a:ext cx="150876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2"/>
          <p:cNvSpPr/>
          <p:nvPr/>
        </p:nvSpPr>
        <p:spPr>
          <a:xfrm>
            <a:off x="5532120" y="1371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05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60" y="1920240"/>
            <a:ext cx="411480" cy="41148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623560" y="23774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Certification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(Live Key) provided</a:t>
            </a:r>
            <a:endParaRPr lang="en-US" sz="1100"/>
          </a:p>
        </p:txBody>
      </p:sp>
      <p:sp>
        <p:nvSpPr>
          <p:cNvPr id="33" name="Text 24"/>
          <p:cNvSpPr/>
          <p:nvPr/>
        </p:nvSpPr>
        <p:spPr>
          <a:xfrm>
            <a:off x="5623560" y="28803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 → Sales → Client</a:t>
            </a:r>
            <a:endParaRPr lang="en-US" sz="90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68" y="2171700"/>
            <a:ext cx="146304" cy="146304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7223760" y="1371600"/>
            <a:ext cx="1508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6"/>
          <p:cNvSpPr/>
          <p:nvPr/>
        </p:nvSpPr>
        <p:spPr>
          <a:xfrm>
            <a:off x="7223760" y="1371600"/>
            <a:ext cx="150876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7"/>
          <p:cNvSpPr/>
          <p:nvPr/>
        </p:nvSpPr>
        <p:spPr>
          <a:xfrm>
            <a:off x="7223760" y="1371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</a:t>
            </a:r>
            <a:endParaRPr lang="en-US" sz="105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0" y="1920240"/>
            <a:ext cx="411480" cy="41148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315200" y="23774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completion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(Go-Live)</a:t>
            </a:r>
            <a:endParaRPr lang="en-US" sz="1100"/>
          </a:p>
        </p:txBody>
      </p:sp>
      <p:sp>
        <p:nvSpPr>
          <p:cNvPr id="40" name="Text 29"/>
          <p:cNvSpPr/>
          <p:nvPr/>
        </p:nvSpPr>
        <p:spPr>
          <a:xfrm>
            <a:off x="7315200" y="28803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Joint monitoring by both</a:t>
            </a:r>
            <a:endParaRPr lang="en-US" sz="900"/>
          </a:p>
        </p:txBody>
      </p:sp>
      <p:sp>
        <p:nvSpPr>
          <p:cNvPr id="41" name="Shape 30"/>
          <p:cNvSpPr/>
          <p:nvPr/>
        </p:nvSpPr>
        <p:spPr>
          <a:xfrm>
            <a:off x="457200" y="3520440"/>
            <a:ext cx="82296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1"/>
          <p:cNvSpPr/>
          <p:nvPr/>
        </p:nvSpPr>
        <p:spPr>
          <a:xfrm>
            <a:off x="457200" y="3520440"/>
            <a:ext cx="91440" cy="114300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2"/>
          <p:cNvSpPr/>
          <p:nvPr/>
        </p:nvSpPr>
        <p:spPr>
          <a:xfrm>
            <a:off x="685800" y="3611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Points Sales must never miss</a:t>
            </a:r>
            <a:endParaRPr lang="en-US" sz="1150"/>
          </a:p>
        </p:txBody>
      </p:sp>
      <p:sp>
        <p:nvSpPr>
          <p:cNvPr id="44" name="Text 33"/>
          <p:cNvSpPr/>
          <p:nvPr/>
        </p:nvSpPr>
        <p:spPr>
          <a:xfrm>
            <a:off x="685800" y="38862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Test scenarios are split into 3 (Normal / 3rd include / Package rate) — unifying them is the improvement task</a:t>
            </a:r>
            <a:endParaRPr lang="en-US" sz="110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Live key is issued only after BOTH Cert Pass AND deposit payment</a:t>
            </a:r>
            <a:endParaRPr lang="en-US" sz="110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Technical comms run developer-to-developer; Sales owns schedule and escalation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751992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Recurring Contract Negotiation Issues</a:t>
            </a:r>
            <a:endParaRPr lang="en-US" sz="220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Clauses clients frequently challenge + how to respond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Training | API Integration Process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17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50292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700"/>
          </a:p>
        </p:txBody>
      </p:sp>
      <p:sp>
        <p:nvSpPr>
          <p:cNvPr id="10" name="Text 8"/>
          <p:cNvSpPr/>
          <p:nvPr/>
        </p:nvSpPr>
        <p:spPr>
          <a:xfrm>
            <a:off x="1097280" y="13533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Who is responsible if check-in fails at the booked rate?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1097280" y="16276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</a:t>
            </a: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Codify specific handling procedures in the SLA — define per scenario: rebooking, refund, price-difference compensation. The contract body only references 'per the SLA'.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2139696"/>
            <a:ext cx="82296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2139696"/>
            <a:ext cx="50292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2139696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700"/>
          </a:p>
        </p:txBody>
      </p:sp>
      <p:sp>
        <p:nvSpPr>
          <p:cNvPr id="15" name="Text 13"/>
          <p:cNvSpPr/>
          <p:nvPr/>
        </p:nvSpPr>
        <p:spPr>
          <a:xfrm>
            <a:off x="1097280" y="22128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 Party B's rights &amp; obligations apply only to the API, or also to websites?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1097280" y="24871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</a:t>
            </a: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 be limited to API distribution as the client requests. But explicitly state our websites are excluded (applied in the Linkstay case).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457200" y="2999232"/>
            <a:ext cx="82296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2999232"/>
            <a:ext cx="50292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7200" y="299923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</a:t>
            </a:r>
            <a:endParaRPr lang="en-US" sz="1700"/>
          </a:p>
        </p:txBody>
      </p:sp>
      <p:sp>
        <p:nvSpPr>
          <p:cNvPr id="20" name="Text 18"/>
          <p:cNvSpPr/>
          <p:nvPr/>
        </p:nvSpPr>
        <p:spPr>
          <a:xfrm>
            <a:off x="1097280" y="30723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working days is not enough to resolve billing disputes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1097280" y="334670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</a:t>
            </a: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Negotiate toward a proviso waiving the 1% penalty while a dispute is formally raised. Extension possible up to 10 working days.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457200" y="3858768"/>
            <a:ext cx="82296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3858768"/>
            <a:ext cx="50292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57200" y="3858768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</a:t>
            </a:r>
            <a:endParaRPr lang="en-US" sz="1700"/>
          </a:p>
        </p:txBody>
      </p:sp>
      <p:sp>
        <p:nvSpPr>
          <p:cNvPr id="25" name="Text 23"/>
          <p:cNvSpPr/>
          <p:nvPr/>
        </p:nvSpPr>
        <p:spPr>
          <a:xfrm>
            <a:off x="1097280" y="3931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1% daily payment penalty is excessive</a:t>
            </a:r>
            <a:endParaRPr lang="en-US" sz="1150"/>
          </a:p>
        </p:txBody>
      </p:sp>
      <p:sp>
        <p:nvSpPr>
          <p:cNvPr id="26" name="Text 24"/>
          <p:cNvSpPr/>
          <p:nvPr/>
        </p:nvSpPr>
        <p:spPr>
          <a:xfrm>
            <a:off x="1097280" y="42062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</a:t>
            </a: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Negotiable: dispute-period waiver proviso + cap clause (e.g., 30% cumulative). No concession on the base rate.</a:t>
            </a:r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1112387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Checklist</a:t>
            </a:r>
            <a:endParaRPr lang="en-US" sz="220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'Done' criteria checklist by phase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Training | API Integration Process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17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— Client Meeting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457200" y="1408176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9224" y="1371600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Account issued + temp password sent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457200" y="1636776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9224" y="1600200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Top-selling list sent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457200" y="1865376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9224" y="1828800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Follow-up scheduled after meeting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457200" y="21031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— NDA Dispatch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57200" y="2340864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9224" y="2304288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Confidentiality NDA sent and returned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57200" y="2569464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9224" y="2532888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Secure answers to 5 fit questions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457200" y="280720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 — Commercial Terms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457200" y="3044952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9224" y="3008376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Deposit agreed + CEO approval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457200" y="3273552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49224" y="3236976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Currency · Settlement fixed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457200" y="35112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 — NICE &amp; Contract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9224" y="3712464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NICE AI screening passed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457200" y="3977640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49224" y="3941064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Clause review + SLA as separate document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49224" y="4169664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Handle 4 recurring issues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4663440" y="11704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 — SPEC · DEV Key</a:t>
            </a:r>
            <a:endParaRPr lang="en-US" sz="1000"/>
          </a:p>
        </p:txBody>
      </p:sp>
      <p:sp>
        <p:nvSpPr>
          <p:cNvPr id="32" name="Shape 30"/>
          <p:cNvSpPr/>
          <p:nvPr/>
        </p:nvSpPr>
        <p:spPr>
          <a:xfrm>
            <a:off x="4663440" y="1408176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855464" y="1371600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Request DEV Key from dev team</a:t>
            </a:r>
            <a:endParaRPr lang="en-US" sz="1000"/>
          </a:p>
        </p:txBody>
      </p:sp>
      <p:sp>
        <p:nvSpPr>
          <p:cNvPr id="34" name="Shape 32"/>
          <p:cNvSpPr/>
          <p:nvPr/>
        </p:nvSpPr>
        <p:spPr>
          <a:xfrm>
            <a:off x="4663440" y="1636776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855464" y="1600200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Deliver SPEC Site · DEV URL · DEV Key</a:t>
            </a:r>
            <a:endParaRPr lang="en-US" sz="1000"/>
          </a:p>
        </p:txBody>
      </p:sp>
      <p:sp>
        <p:nvSpPr>
          <p:cNvPr id="36" name="Shape 34"/>
          <p:cNvSpPr/>
          <p:nvPr/>
        </p:nvSpPr>
        <p:spPr>
          <a:xfrm>
            <a:off x="4663440" y="1865376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855464" y="1828800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 up Teams channel (IT ↔ IT)</a:t>
            </a:r>
            <a:endParaRPr lang="en-US" sz="1000"/>
          </a:p>
        </p:txBody>
      </p:sp>
      <p:sp>
        <p:nvSpPr>
          <p:cNvPr id="38" name="Text 36"/>
          <p:cNvSpPr/>
          <p:nvPr/>
        </p:nvSpPr>
        <p:spPr>
          <a:xfrm>
            <a:off x="4663440" y="21031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P6 — Staging Test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4663440" y="2340864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855464" y="2304288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Share Cert document + static info</a:t>
            </a:r>
            <a:endParaRPr lang="en-US" sz="1000"/>
          </a:p>
        </p:txBody>
      </p:sp>
      <p:sp>
        <p:nvSpPr>
          <p:cNvPr id="41" name="Shape 39"/>
          <p:cNvSpPr/>
          <p:nvPr/>
        </p:nvSpPr>
        <p:spPr>
          <a:xfrm>
            <a:off x="4663440" y="2569464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855464" y="2532888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 client IT contacts · access IPs</a:t>
            </a:r>
            <a:endParaRPr lang="en-US" sz="1000"/>
          </a:p>
        </p:txBody>
      </p:sp>
      <p:sp>
        <p:nvSpPr>
          <p:cNvPr id="43" name="Shape 41"/>
          <p:cNvSpPr/>
          <p:nvPr/>
        </p:nvSpPr>
        <p:spPr>
          <a:xfrm>
            <a:off x="4663440" y="2798064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855464" y="2761488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Monitor test progress</a:t>
            </a:r>
            <a:endParaRPr lang="en-US" sz="1000"/>
          </a:p>
        </p:txBody>
      </p:sp>
      <p:sp>
        <p:nvSpPr>
          <p:cNvPr id="45" name="Text 43"/>
          <p:cNvSpPr/>
          <p:nvPr/>
        </p:nvSpPr>
        <p:spPr>
          <a:xfrm>
            <a:off x="4663440" y="303580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P7 — Test Complete / Deposit</a:t>
            </a:r>
            <a:endParaRPr lang="en-US" sz="1000"/>
          </a:p>
        </p:txBody>
      </p:sp>
      <p:sp>
        <p:nvSpPr>
          <p:cNvPr id="46" name="Shape 44"/>
          <p:cNvSpPr/>
          <p:nvPr/>
        </p:nvSpPr>
        <p:spPr>
          <a:xfrm>
            <a:off x="4663440" y="3273552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4855464" y="3236976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 team verifies Result + Log</a:t>
            </a:r>
            <a:endParaRPr lang="en-US" sz="1000"/>
          </a:p>
        </p:txBody>
      </p:sp>
      <p:sp>
        <p:nvSpPr>
          <p:cNvPr id="48" name="Shape 46"/>
          <p:cNvSpPr/>
          <p:nvPr/>
        </p:nvSpPr>
        <p:spPr>
          <a:xfrm>
            <a:off x="4663440" y="3502152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4855464" y="3465576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Confirm test Pass decision</a:t>
            </a:r>
            <a:endParaRPr lang="en-US" sz="1000"/>
          </a:p>
        </p:txBody>
      </p:sp>
      <p:sp>
        <p:nvSpPr>
          <p:cNvPr id="50" name="Shape 48"/>
          <p:cNvSpPr/>
          <p:nvPr/>
        </p:nvSpPr>
        <p:spPr>
          <a:xfrm>
            <a:off x="4663440" y="3730752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4855464" y="3694176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Deposit received + receipt on file</a:t>
            </a:r>
            <a:endParaRPr lang="en-US" sz="1000"/>
          </a:p>
        </p:txBody>
      </p:sp>
      <p:sp>
        <p:nvSpPr>
          <p:cNvPr id="52" name="Text 50"/>
          <p:cNvSpPr/>
          <p:nvPr/>
        </p:nvSpPr>
        <p:spPr>
          <a:xfrm>
            <a:off x="4663440" y="39684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P8·9 — Live Key / Go-Live</a:t>
            </a:r>
            <a:endParaRPr lang="en-US" sz="1000"/>
          </a:p>
        </p:txBody>
      </p:sp>
      <p:sp>
        <p:nvSpPr>
          <p:cNvPr id="53" name="Shape 51"/>
          <p:cNvSpPr/>
          <p:nvPr/>
        </p:nvSpPr>
        <p:spPr>
          <a:xfrm>
            <a:off x="4663440" y="4206240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4855464" y="4169664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Deliver live key + live test booking</a:t>
            </a:r>
            <a:endParaRPr lang="en-US" sz="1000"/>
          </a:p>
        </p:txBody>
      </p:sp>
      <p:sp>
        <p:nvSpPr>
          <p:cNvPr id="55" name="Shape 53"/>
          <p:cNvSpPr/>
          <p:nvPr/>
        </p:nvSpPr>
        <p:spPr>
          <a:xfrm>
            <a:off x="4663440" y="4434840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4855464" y="4398264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Exchange channel info both ways</a:t>
            </a:r>
            <a:endParaRPr lang="en-US" sz="1000"/>
          </a:p>
        </p:txBody>
      </p:sp>
      <p:sp>
        <p:nvSpPr>
          <p:cNvPr id="57" name="Shape 55"/>
          <p:cNvSpPr/>
          <p:nvPr/>
        </p:nvSpPr>
        <p:spPr>
          <a:xfrm>
            <a:off x="4663440" y="4663440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4855464" y="4626864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Go-Live D-3 advance notice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421207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TAKEAWAYS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things to remember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097280" cy="0"/>
          </a:xfrm>
          <a:prstGeom prst="line">
            <a:avLst/>
          </a:prstGeom>
          <a:noFill/>
          <a:ln w="25400">
            <a:solidFill>
              <a:srgbClr val="F9A8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800"/>
          </a:p>
        </p:txBody>
      </p:sp>
      <p:sp>
        <p:nvSpPr>
          <p:cNvPr id="6" name="Text 4"/>
          <p:cNvSpPr/>
          <p:nvPr/>
        </p:nvSpPr>
        <p:spPr>
          <a:xfrm>
            <a:off x="1280160" y="1691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= PM Mode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1280160" y="19842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is the project manager across all 9 phases. In the technical phases, however, Client IT and the OMH dev team communicate directly, while Sales owns schedule and escalation.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457200" y="225856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1280160" y="22585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Standard is USD 30K; Floor is USD 10K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1280160" y="25511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Deposit can be lowered to USD 10K, but only for Tier 1 clients. The 1:1 Credit Ratio and the bi-weekly settlement cycle are non-negotiable under any circumstances.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457200" y="282549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800"/>
          </a:p>
        </p:txBody>
      </p:sp>
      <p:sp>
        <p:nvSpPr>
          <p:cNvPr id="12" name="Text 10"/>
          <p:cNvSpPr/>
          <p:nvPr/>
        </p:nvSpPr>
        <p:spPr>
          <a:xfrm>
            <a:off x="1280160" y="28254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Unify test scenarios into one document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1280160" y="3118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Currently split into Normal / 3rd include / Package rate. A single document with common TEST 1-4 plus one optional case is feasible.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457200" y="339242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800"/>
          </a:p>
        </p:txBody>
      </p:sp>
      <p:sp>
        <p:nvSpPr>
          <p:cNvPr id="15" name="Text 13"/>
          <p:cNvSpPr/>
          <p:nvPr/>
        </p:nvSpPr>
        <p:spPr>
          <a:xfrm>
            <a:off x="1280160" y="339242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 condition — Cert Pass + Deposit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1280160" y="3685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live key is issued only when both are met, and must follow the Dev team → Sales → Client route.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457200" y="395935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800"/>
          </a:p>
        </p:txBody>
      </p:sp>
      <p:sp>
        <p:nvSpPr>
          <p:cNvPr id="18" name="Text 16"/>
          <p:cNvSpPr/>
          <p:nvPr/>
        </p:nvSpPr>
        <p:spPr>
          <a:xfrm>
            <a:off x="1280160" y="39593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Never Give Up on Follow-up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1280160" y="42519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Linkstay re-engaged after about 3 months of silence following first contact. Consistent follow-up is what ultimately makes the deal.</a:t>
            </a:r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&amp; Marketing | API Integration Training | May 2026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561257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F19D0D2-7A2D-4435-A0B3-85F235E9012D}">
  <we:reference id="11d7cf85-ae5a-43b8-bc58-1e1a151cce24" version="1.0.0.1" store="excatalog" storeType="excatalog"/>
  <we:alternateReferences>
    <we:reference id="WA200010725" version="1.0.0.1" store="ko-kr" storeType="omex"/>
  </we:alternateReferences>
  <we:properties>
    <we:property name="claude.fileId" value="&quot;f879cd2c-4cbf-4779-b10e-38bc29de1b74&quot;"/>
  </we:properties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0" runtimeId="Taskpane.Url"/>
    </a:ext>
  </we:extLst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2621</Words>
  <Application>Microsoft Office PowerPoint</Application>
  <PresentationFormat>화면 슬라이드 쇼(16:9)</PresentationFormat>
  <Paragraphs>474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맑은 고딕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연동 프로세스 가이드 (Sales 교육용)</dc:title>
  <dc:subject>PptxGenJS Presentation</dc:subject>
  <dc:creator>OMH Global Sales &amp; Marketing</dc:creator>
  <cp:lastModifiedBy>Park Changbae (Aiden)</cp:lastModifiedBy>
  <cp:revision>43</cp:revision>
  <dcterms:created xsi:type="dcterms:W3CDTF">2026-05-11T03:07:40Z</dcterms:created>
  <dcterms:modified xsi:type="dcterms:W3CDTF">2026-07-28T02:24:49Z</dcterms:modified>
</cp:coreProperties>
</file>