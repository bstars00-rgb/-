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347" r:id="rId4"/>
    <p:sldId id="259" r:id="rId5"/>
    <p:sldId id="337" r:id="rId6"/>
    <p:sldId id="338" r:id="rId7"/>
    <p:sldId id="340" r:id="rId8"/>
    <p:sldId id="314" r:id="rId9"/>
    <p:sldId id="322" r:id="rId10"/>
    <p:sldId id="316" r:id="rId11"/>
    <p:sldId id="317" r:id="rId12"/>
    <p:sldId id="318" r:id="rId13"/>
    <p:sldId id="268" r:id="rId14"/>
    <p:sldId id="333" r:id="rId15"/>
    <p:sldId id="270" r:id="rId16"/>
    <p:sldId id="341" r:id="rId17"/>
    <p:sldId id="32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C1E3B2-8B73-DB30-434E-F2639E4ABB5B}" v="1" dt="2026-07-28T00:22:44.571"/>
    <p1510:client id="{B1FC1217-86CF-C810-E3F9-7E39E9398767}" v="79" dt="2026-07-28T00:54:48.1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AC3E97-ABB8-4CBF-9E1D-748A9ABC0AD1}" type="datetimeFigureOut">
              <a:t>2026-07-28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FAC192-0A31-4FBC-9A77-20D6E0798A6F}" type="slidenum"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747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4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 TRAINING DECK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연동 프로세스</a:t>
            </a:r>
            <a:endParaRPr lang="en-US" sz="480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Sales가 알아야 할 9단계 End-to-End</a:t>
            </a:r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914400" y="2880360"/>
            <a:ext cx="1371600" cy="0"/>
          </a:xfrm>
          <a:prstGeom prst="line">
            <a:avLst/>
          </a:prstGeom>
          <a:noFill/>
          <a:ln w="25400">
            <a:solidFill>
              <a:srgbClr val="F9A8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STUDY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Linkstay (China) · 2025.06 ~ 2026.05 · 약 11개월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Prepared by </a:t>
            </a:r>
            <a:r>
              <a:rPr lang="en-US" sz="11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Global Sales &amp; Marketing</a:t>
            </a:r>
            <a:r>
              <a:rPr lang="en-US" sz="110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|   May 2026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 &amp; Case Study 개요</a:t>
            </a:r>
            <a:endParaRPr lang="en-US" sz="220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교육을 통해 얻게 될 것</a:t>
            </a:r>
            <a:endParaRPr lang="en-US" sz="120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Global Sales Training | API 연동 프로세스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17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43891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1325880" y="14813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 전체 흐름 이해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1325880" y="17830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컨택부터 Go-Live까지 9단계, 각 단계별 Sales의 역할과 책임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57200" y="2450592"/>
            <a:ext cx="43891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40080" y="263347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2633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1325880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조건 &amp; 협상 한도 숙지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1325880" y="28620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Deposit, Credit Ratio, Settlement, Currency 등 협상 시 양보 가능 범위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457200" y="3529584"/>
            <a:ext cx="43891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40080" y="371246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0080" y="37124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1325880" y="36393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협상 포인트 대응법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1325880" y="394106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계약서 검토에서 고객사가 반복적으로 제기하는 4대 이슈와 대응</a:t>
            </a:r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5029200" y="1371600"/>
            <a:ext cx="3657600" cy="3291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STUDY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5212080" y="1920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Linkstay</a:t>
            </a:r>
            <a:endParaRPr lang="en-US" sz="2800"/>
          </a:p>
        </p:txBody>
      </p:sp>
      <p:sp>
        <p:nvSpPr>
          <p:cNvPr id="26" name="Text 24"/>
          <p:cNvSpPr/>
          <p:nvPr/>
        </p:nvSpPr>
        <p:spPr>
          <a:xfrm>
            <a:off x="5212080" y="2377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China · B2B Hotel Distribution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5212080" y="27432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일 주문량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5212080" y="29260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1,500 ~ 2,000건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5212080" y="32186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5212080" y="34015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Ctrip, Fliggy, Meituan + WeChat 400K+ 에이전트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5212080" y="369417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형태</a:t>
            </a:r>
            <a:endParaRPr lang="en-US" sz="900"/>
          </a:p>
        </p:txBody>
      </p:sp>
      <p:sp>
        <p:nvSpPr>
          <p:cNvPr id="32" name="Text 30"/>
          <p:cNvSpPr/>
          <p:nvPr/>
        </p:nvSpPr>
        <p:spPr>
          <a:xfrm>
            <a:off x="5212080" y="38770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Supplier (B2B Inventory 공급)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5212080" y="416966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기간</a:t>
            </a:r>
            <a:endParaRPr lang="en-US" sz="900"/>
          </a:p>
        </p:txBody>
      </p:sp>
      <p:sp>
        <p:nvSpPr>
          <p:cNvPr id="34" name="Text 32"/>
          <p:cNvSpPr/>
          <p:nvPr/>
        </p:nvSpPr>
        <p:spPr>
          <a:xfrm>
            <a:off x="5212080" y="43525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컨택 → Go-Live 약 11개월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End-to-End 9단계 프로세스</a:t>
            </a:r>
            <a:endParaRPr lang="en-US" sz="220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컨택부터 Go-Live까지</a:t>
            </a:r>
            <a:endParaRPr lang="en-US" sz="120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Global Sales Training | API 연동 프로세스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17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697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73152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21792" y="13075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200"/>
          </a:p>
        </p:txBody>
      </p:sp>
      <p:sp>
        <p:nvSpPr>
          <p:cNvPr id="10" name="Text 8"/>
          <p:cNvSpPr/>
          <p:nvPr/>
        </p:nvSpPr>
        <p:spPr>
          <a:xfrm>
            <a:off x="1143000" y="13258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거래처 미팅 &amp; Lead 발굴</a:t>
            </a:r>
            <a:endParaRPr lang="en-US" sz="1150"/>
          </a:p>
        </p:txBody>
      </p:sp>
      <p:sp>
        <p:nvSpPr>
          <p:cNvPr id="11" name="Text 9"/>
          <p:cNvSpPr/>
          <p:nvPr/>
        </p:nvSpPr>
        <p:spPr>
          <a:xfrm>
            <a:off x="621792" y="1737360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발급, Top-Selling 리스트, 대면 미팅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3273552" y="1234440"/>
            <a:ext cx="2697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273552" y="1234440"/>
            <a:ext cx="73152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438144" y="13075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200"/>
          </a:p>
        </p:txBody>
      </p:sp>
      <p:sp>
        <p:nvSpPr>
          <p:cNvPr id="15" name="Text 13"/>
          <p:cNvSpPr/>
          <p:nvPr/>
        </p:nvSpPr>
        <p:spPr>
          <a:xfrm>
            <a:off x="3959352" y="13258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NDA 발송 &amp; 적합성 검토</a:t>
            </a:r>
            <a:endParaRPr lang="en-US" sz="1150"/>
          </a:p>
        </p:txBody>
      </p:sp>
      <p:sp>
        <p:nvSpPr>
          <p:cNvPr id="16" name="Text 14"/>
          <p:cNvSpPr/>
          <p:nvPr/>
        </p:nvSpPr>
        <p:spPr>
          <a:xfrm>
            <a:off x="3438144" y="1737360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비밀보장 목적 NDA 체결, 모델·채널 확인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6089904" y="1234440"/>
            <a:ext cx="2697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089904" y="1234440"/>
            <a:ext cx="73152" cy="96012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254496" y="13075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200"/>
          </a:p>
        </p:txBody>
      </p:sp>
      <p:sp>
        <p:nvSpPr>
          <p:cNvPr id="20" name="Text 18"/>
          <p:cNvSpPr/>
          <p:nvPr/>
        </p:nvSpPr>
        <p:spPr>
          <a:xfrm>
            <a:off x="6775704" y="13258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거래조건 협의 (정산조건)</a:t>
            </a:r>
            <a:endParaRPr lang="en-US" sz="1150"/>
          </a:p>
        </p:txBody>
      </p:sp>
      <p:sp>
        <p:nvSpPr>
          <p:cNvPr id="21" name="Text 19"/>
          <p:cNvSpPr/>
          <p:nvPr/>
        </p:nvSpPr>
        <p:spPr>
          <a:xfrm>
            <a:off x="6254496" y="1737360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Deposit·Currency·Settlement → 대표님 승인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457200" y="2313432"/>
            <a:ext cx="2697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57200" y="2313432"/>
            <a:ext cx="73152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21792" y="23865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200"/>
          </a:p>
        </p:txBody>
      </p:sp>
      <p:sp>
        <p:nvSpPr>
          <p:cNvPr id="25" name="Text 23"/>
          <p:cNvSpPr/>
          <p:nvPr/>
        </p:nvSpPr>
        <p:spPr>
          <a:xfrm>
            <a:off x="1143000" y="2404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오마이 나이스 &amp; 계약서·SLA</a:t>
            </a:r>
            <a:endParaRPr lang="en-US" sz="1150"/>
          </a:p>
        </p:txBody>
      </p:sp>
      <p:sp>
        <p:nvSpPr>
          <p:cNvPr id="26" name="Text 24"/>
          <p:cNvSpPr/>
          <p:nvPr/>
        </p:nvSpPr>
        <p:spPr>
          <a:xfrm>
            <a:off x="621792" y="2816352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자체 심사 통과 후 조항 검토·SLA 분리</a:t>
            </a:r>
            <a:endParaRPr lang="en-US" sz="950"/>
          </a:p>
        </p:txBody>
      </p:sp>
      <p:sp>
        <p:nvSpPr>
          <p:cNvPr id="27" name="Shape 25"/>
          <p:cNvSpPr/>
          <p:nvPr/>
        </p:nvSpPr>
        <p:spPr>
          <a:xfrm>
            <a:off x="3273552" y="2313432"/>
            <a:ext cx="2697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273552" y="2313432"/>
            <a:ext cx="73152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3438144" y="23865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200"/>
          </a:p>
        </p:txBody>
      </p:sp>
      <p:sp>
        <p:nvSpPr>
          <p:cNvPr id="30" name="Text 28"/>
          <p:cNvSpPr/>
          <p:nvPr/>
        </p:nvSpPr>
        <p:spPr>
          <a:xfrm>
            <a:off x="3959352" y="2404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체결 &amp; DEV Key 제공</a:t>
            </a:r>
            <a:endParaRPr lang="en-US" sz="1150"/>
          </a:p>
        </p:txBody>
      </p:sp>
      <p:sp>
        <p:nvSpPr>
          <p:cNvPr id="31" name="Text 29"/>
          <p:cNvSpPr/>
          <p:nvPr/>
        </p:nvSpPr>
        <p:spPr>
          <a:xfrm>
            <a:off x="3438144" y="2816352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SPEC · DEV 환경 · DEV Credential 전달</a:t>
            </a:r>
            <a:endParaRPr lang="en-US" sz="950"/>
          </a:p>
        </p:txBody>
      </p:sp>
      <p:sp>
        <p:nvSpPr>
          <p:cNvPr id="32" name="Shape 30"/>
          <p:cNvSpPr/>
          <p:nvPr/>
        </p:nvSpPr>
        <p:spPr>
          <a:xfrm>
            <a:off x="6089904" y="2313432"/>
            <a:ext cx="2697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6089904" y="2313432"/>
            <a:ext cx="73152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254496" y="23865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200"/>
          </a:p>
        </p:txBody>
      </p:sp>
      <p:sp>
        <p:nvSpPr>
          <p:cNvPr id="35" name="Text 33"/>
          <p:cNvSpPr/>
          <p:nvPr/>
        </p:nvSpPr>
        <p:spPr>
          <a:xfrm>
            <a:off x="6775704" y="2404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&amp; 스테이징 테스트</a:t>
            </a:r>
            <a:endParaRPr lang="en-US" sz="1150"/>
          </a:p>
        </p:txBody>
      </p:sp>
      <p:sp>
        <p:nvSpPr>
          <p:cNvPr id="36" name="Text 34"/>
          <p:cNvSpPr/>
          <p:nvPr/>
        </p:nvSpPr>
        <p:spPr>
          <a:xfrm>
            <a:off x="6254496" y="2816352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테스트 시나리오 기반 Certification</a:t>
            </a:r>
            <a:endParaRPr lang="en-US" sz="950"/>
          </a:p>
        </p:txBody>
      </p:sp>
      <p:sp>
        <p:nvSpPr>
          <p:cNvPr id="37" name="Shape 35"/>
          <p:cNvSpPr/>
          <p:nvPr/>
        </p:nvSpPr>
        <p:spPr>
          <a:xfrm>
            <a:off x="457200" y="3392424"/>
            <a:ext cx="2697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457200" y="3392424"/>
            <a:ext cx="73152" cy="96012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621792" y="346557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2200"/>
          </a:p>
        </p:txBody>
      </p:sp>
      <p:sp>
        <p:nvSpPr>
          <p:cNvPr id="40" name="Text 38"/>
          <p:cNvSpPr/>
          <p:nvPr/>
        </p:nvSpPr>
        <p:spPr>
          <a:xfrm>
            <a:off x="1143000" y="34838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완료 &amp; Deposit 입금</a:t>
            </a:r>
            <a:endParaRPr lang="en-US" sz="1150"/>
          </a:p>
        </p:txBody>
      </p:sp>
      <p:sp>
        <p:nvSpPr>
          <p:cNvPr id="41" name="Text 39"/>
          <p:cNvSpPr/>
          <p:nvPr/>
        </p:nvSpPr>
        <p:spPr>
          <a:xfrm>
            <a:off x="621792" y="3895344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Cert 결과 검증 + 입금 확인</a:t>
            </a:r>
            <a:endParaRPr lang="en-US" sz="950"/>
          </a:p>
        </p:txBody>
      </p:sp>
      <p:sp>
        <p:nvSpPr>
          <p:cNvPr id="42" name="Shape 40"/>
          <p:cNvSpPr/>
          <p:nvPr/>
        </p:nvSpPr>
        <p:spPr>
          <a:xfrm>
            <a:off x="3273552" y="3392424"/>
            <a:ext cx="2697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3273552" y="3392424"/>
            <a:ext cx="73152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3438144" y="346557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2200"/>
          </a:p>
        </p:txBody>
      </p:sp>
      <p:sp>
        <p:nvSpPr>
          <p:cNvPr id="45" name="Text 43"/>
          <p:cNvSpPr/>
          <p:nvPr/>
        </p:nvSpPr>
        <p:spPr>
          <a:xfrm>
            <a:off x="3959352" y="34838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라이브키 발급 &amp; Live Test</a:t>
            </a:r>
            <a:endParaRPr lang="en-US" sz="1150"/>
          </a:p>
        </p:txBody>
      </p:sp>
      <p:sp>
        <p:nvSpPr>
          <p:cNvPr id="46" name="Text 44"/>
          <p:cNvSpPr/>
          <p:nvPr/>
        </p:nvSpPr>
        <p:spPr>
          <a:xfrm>
            <a:off x="3438144" y="3895344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개발팀 → 세일즈 → 고객사, Live Test</a:t>
            </a:r>
            <a:endParaRPr lang="en-US" sz="950"/>
          </a:p>
        </p:txBody>
      </p:sp>
      <p:sp>
        <p:nvSpPr>
          <p:cNvPr id="47" name="Shape 45"/>
          <p:cNvSpPr/>
          <p:nvPr/>
        </p:nvSpPr>
        <p:spPr>
          <a:xfrm>
            <a:off x="6089904" y="3392424"/>
            <a:ext cx="2697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6089904" y="3392424"/>
            <a:ext cx="73152" cy="96012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6254496" y="346557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2200"/>
          </a:p>
        </p:txBody>
      </p:sp>
      <p:sp>
        <p:nvSpPr>
          <p:cNvPr id="50" name="Text 48"/>
          <p:cNvSpPr/>
          <p:nvPr/>
        </p:nvSpPr>
        <p:spPr>
          <a:xfrm>
            <a:off x="6775704" y="34838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Go-Live / 라이브 완료</a:t>
            </a:r>
            <a:endParaRPr lang="en-US" sz="1150"/>
          </a:p>
        </p:txBody>
      </p:sp>
      <p:sp>
        <p:nvSpPr>
          <p:cNvPr id="51" name="Text 49"/>
          <p:cNvSpPr/>
          <p:nvPr/>
        </p:nvSpPr>
        <p:spPr>
          <a:xfrm>
            <a:off x="6254496" y="3895344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일정 공유, 초기 모니터링, 공식 런칭</a:t>
            </a:r>
            <a:endParaRPr lang="en-US" sz="950"/>
          </a:p>
        </p:txBody>
      </p:sp>
      <p:sp>
        <p:nvSpPr>
          <p:cNvPr id="52" name="Shape 50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 골드 표시 단계 (3, 7, 9)는 Sales가 가장 집중해야 할 의사결정·게이트 구간입니다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996364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Lead 발굴 &amp; 초기 컨택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 → 계정 발급 → Follow-up까지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Global Sales Training | API 연동 프로세스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17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 액션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457200" y="1563624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15636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731520" y="15087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ohmyhotel.biz 계정 발급 (임시 PW 포함)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457200" y="1947672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" y="19476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731520" y="189280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국가별 Top-Selling 호텔 리스트 공유 (KR/JP/VN)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457200" y="2331720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57200" y="23317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731520" y="227685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선불 결제 정책 안내 (Credit Card 또는 Bank Transfer)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457200" y="2715768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7200" y="2715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731520" y="266090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응답 없을 시 정기 Follow-up (3~6주 간격)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457200" y="3099816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57200" y="30998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731520" y="30449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비즈니스 카운터파트 명확화 (R&amp;D, Procurement)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5212080" y="1188720"/>
            <a:ext cx="34747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34924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Linkstay Case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5349240" y="155448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2025.06.26 </a:t>
            </a: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Jensen이 계정 발급 + Top-Selling 리스트 송부</a:t>
            </a:r>
            <a:endParaRPr lang="en-US" sz="100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2025.06.27 </a:t>
            </a: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Jason(Linkstay)이 가격 검토 의사 + 계약서 요청</a:t>
            </a:r>
            <a:endParaRPr lang="en-US" sz="100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2025.07.30 </a:t>
            </a: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Grace의 첫 Follow-up (응답 없음)</a:t>
            </a:r>
            <a:endParaRPr lang="en-US" sz="100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2025.09.12 </a:t>
            </a:r>
            <a:r>
              <a:rPr lang="en-US" sz="1000">
                <a:solidFill>
                  <a:srgbClr val="0E9F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번째 Follow-up → 협력 의사 재확인</a:t>
            </a:r>
            <a:endParaRPr lang="en-US" sz="1000"/>
          </a:p>
        </p:txBody>
      </p:sp>
      <p:sp>
        <p:nvSpPr>
          <p:cNvPr id="28" name="Shape 26"/>
          <p:cNvSpPr/>
          <p:nvPr/>
        </p:nvSpPr>
        <p:spPr>
          <a:xfrm>
            <a:off x="5212080" y="3017520"/>
            <a:ext cx="3474720" cy="1600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349240" y="3108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LESSON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534924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응답이 없어도 포기 금지</a:t>
            </a:r>
            <a:endParaRPr lang="en-US" sz="1600"/>
          </a:p>
        </p:txBody>
      </p:sp>
      <p:sp>
        <p:nvSpPr>
          <p:cNvPr id="31" name="Text 29"/>
          <p:cNvSpPr/>
          <p:nvPr/>
        </p:nvSpPr>
        <p:spPr>
          <a:xfrm>
            <a:off x="5349240" y="37490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Linkstay는 첫 컨택 후 약 3개월(6월 → 9월) 침묵 끝에 재개되었습니다. 정기적인 Follow-up이 결국 Deal로 이어집니다.</a:t>
            </a:r>
            <a:endParaRPr lang="en-US" sz="1050"/>
          </a:p>
        </p:txBody>
      </p:sp>
      <p:sp>
        <p:nvSpPr>
          <p:cNvPr id="32" name="Shape 30"/>
          <p:cNvSpPr/>
          <p:nvPr/>
        </p:nvSpPr>
        <p:spPr>
          <a:xfrm>
            <a:off x="457200" y="4114800"/>
            <a:ext cx="4572000" cy="50292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57200" y="4114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 ▸ </a:t>
            </a:r>
            <a:r>
              <a:rPr lang="en-US" sz="110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협력 의사 확인 + 진행 일정 공유 시점에 Phase 2로 이동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NDA 발송 &amp; 비즈니스 적합성 검토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비밀보장 확보 후 고객사 모델·채널 파악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Global Sales Training | API 연동 프로세스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17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1. NDA 발송 (비밀보장 목적)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109728" cy="10972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1463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거래처 미팅 직후 OMH NDA 템플릿 송부 (Sales가 driver)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457200" y="1883664"/>
            <a:ext cx="109728" cy="10972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0080" y="17922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서명 후 회신 → 우리측 서명본 송부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457200" y="2212848"/>
            <a:ext cx="109728" cy="10972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080" y="21214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가격·재고·API 등 후속 자료 공유는 NDA 체결 이후에만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457200" y="2606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2. 적합성 질문 (필수 5)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457200" y="2880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868680" y="2880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판매 채널 (B2B / B2C / WeChat 등)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457200" y="31729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endParaRPr lang="en-US" sz="1050"/>
          </a:p>
        </p:txBody>
      </p:sp>
      <p:sp>
        <p:nvSpPr>
          <p:cNvPr id="20" name="Text 18"/>
          <p:cNvSpPr/>
          <p:nvPr/>
        </p:nvSpPr>
        <p:spPr>
          <a:xfrm>
            <a:off x="868680" y="3172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 vs B2C 매출 비중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457200" y="346557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868680" y="34655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 평균 주문량 (예상 볼륨)</a:t>
            </a:r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457200" y="375818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868680" y="37581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공급 방식 (API / Static / Cross-Selling)</a:t>
            </a:r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457200" y="40507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868680" y="4050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결제·정산 가능 통화 (USD / JPY / CNY)</a:t>
            </a:r>
            <a:endParaRPr lang="en-US" sz="1050"/>
          </a:p>
        </p:txBody>
      </p:sp>
      <p:sp>
        <p:nvSpPr>
          <p:cNvPr id="27" name="Shape 25"/>
          <p:cNvSpPr/>
          <p:nvPr/>
        </p:nvSpPr>
        <p:spPr>
          <a:xfrm>
            <a:off x="5029200" y="1188720"/>
            <a:ext cx="36576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029200" y="1188720"/>
            <a:ext cx="91440" cy="338328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21208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Linkstay 답변 (실제)</a:t>
            </a:r>
            <a:endParaRPr lang="en-US" sz="1150"/>
          </a:p>
        </p:txBody>
      </p:sp>
      <p:sp>
        <p:nvSpPr>
          <p:cNvPr id="30" name="Text 28"/>
          <p:cNvSpPr/>
          <p:nvPr/>
        </p:nvSpPr>
        <p:spPr>
          <a:xfrm>
            <a:off x="5212080" y="16916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채널</a:t>
            </a:r>
            <a:endParaRPr lang="en-US" sz="950"/>
          </a:p>
        </p:txBody>
      </p:sp>
      <p:sp>
        <p:nvSpPr>
          <p:cNvPr id="31" name="Text 29"/>
          <p:cNvSpPr/>
          <p:nvPr/>
        </p:nvSpPr>
        <p:spPr>
          <a:xfrm>
            <a:off x="5212080" y="18745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Ctrip · Fliggy · Meituan (B2B) + WeChat 400K+ 에이전트 (B2C)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5212080" y="22585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 vs B2C</a:t>
            </a:r>
            <a:endParaRPr lang="en-US" sz="950"/>
          </a:p>
        </p:txBody>
      </p:sp>
      <p:sp>
        <p:nvSpPr>
          <p:cNvPr id="33" name="Text 31"/>
          <p:cNvSpPr/>
          <p:nvPr/>
        </p:nvSpPr>
        <p:spPr>
          <a:xfrm>
            <a:off x="5212080" y="24414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주로 B2B (해외 3rd-party 공급사는 WeChat 등 Private 채널 한정)</a:t>
            </a:r>
            <a:endParaRPr lang="en-US" sz="1000"/>
          </a:p>
        </p:txBody>
      </p:sp>
      <p:sp>
        <p:nvSpPr>
          <p:cNvPr id="34" name="Text 32"/>
          <p:cNvSpPr/>
          <p:nvPr/>
        </p:nvSpPr>
        <p:spPr>
          <a:xfrm>
            <a:off x="5212080" y="28254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 주문량</a:t>
            </a:r>
            <a:endParaRPr lang="en-US" sz="950"/>
          </a:p>
        </p:txBody>
      </p:sp>
      <p:sp>
        <p:nvSpPr>
          <p:cNvPr id="35" name="Text 33"/>
          <p:cNvSpPr/>
          <p:nvPr/>
        </p:nvSpPr>
        <p:spPr>
          <a:xfrm>
            <a:off x="5212080" y="300837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1,500 ~ 2,000건 (해외 거래 기준)</a:t>
            </a:r>
            <a:endParaRPr lang="en-US" sz="1000"/>
          </a:p>
        </p:txBody>
      </p:sp>
      <p:sp>
        <p:nvSpPr>
          <p:cNvPr id="36" name="Text 34"/>
          <p:cNvSpPr/>
          <p:nvPr/>
        </p:nvSpPr>
        <p:spPr>
          <a:xfrm>
            <a:off x="5212080" y="339242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방식</a:t>
            </a:r>
            <a:endParaRPr lang="en-US" sz="950"/>
          </a:p>
        </p:txBody>
      </p:sp>
      <p:sp>
        <p:nvSpPr>
          <p:cNvPr id="37" name="Text 35"/>
          <p:cNvSpPr/>
          <p:nvPr/>
        </p:nvSpPr>
        <p:spPr>
          <a:xfrm>
            <a:off x="5212080" y="357530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연동 후 즉시 자동 확정 / 자체 정산</a:t>
            </a:r>
            <a:endParaRPr lang="en-US" sz="1000"/>
          </a:p>
        </p:txBody>
      </p:sp>
      <p:sp>
        <p:nvSpPr>
          <p:cNvPr id="38" name="Text 36"/>
          <p:cNvSpPr/>
          <p:nvPr/>
        </p:nvSpPr>
        <p:spPr>
          <a:xfrm>
            <a:off x="5212080" y="39593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통화</a:t>
            </a:r>
            <a:endParaRPr lang="en-US" sz="950"/>
          </a:p>
        </p:txBody>
      </p:sp>
      <p:sp>
        <p:nvSpPr>
          <p:cNvPr id="39" name="Text 37"/>
          <p:cNvSpPr/>
          <p:nvPr/>
        </p:nvSpPr>
        <p:spPr>
          <a:xfrm>
            <a:off x="5212080" y="41422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USD (협상 결과)</a:t>
            </a:r>
            <a:endParaRPr lang="en-US" sz="1000"/>
          </a:p>
        </p:txBody>
      </p:sp>
      <p:sp>
        <p:nvSpPr>
          <p:cNvPr id="40" name="Shape 38"/>
          <p:cNvSpPr/>
          <p:nvPr/>
        </p:nvSpPr>
        <p:spPr>
          <a:xfrm>
            <a:off x="457200" y="4617720"/>
            <a:ext cx="8229600" cy="0"/>
          </a:xfrm>
          <a:prstGeom prst="rect">
            <a:avLst/>
          </a:prstGeom>
          <a:solidFill>
            <a:srgbClr val="F8F9FC"/>
          </a:solidFill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700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거래조건 협의 (정산조건)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Deposit · Currency · Settlement 합의 → 대표님 승인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Global Sales Training | API 연동 프로세스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17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3931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234440"/>
            <a:ext cx="73152" cy="146304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9728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Deposit</a:t>
            </a:r>
            <a:endParaRPr lang="en-US" sz="1400"/>
          </a:p>
        </p:txBody>
      </p:sp>
      <p:sp>
        <p:nvSpPr>
          <p:cNvPr id="13" name="Text 10"/>
          <p:cNvSpPr/>
          <p:nvPr/>
        </p:nvSpPr>
        <p:spPr>
          <a:xfrm>
            <a:off x="685800" y="18288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표준</a:t>
            </a:r>
            <a:endParaRPr lang="en-US" sz="850"/>
          </a:p>
        </p:txBody>
      </p:sp>
      <p:sp>
        <p:nvSpPr>
          <p:cNvPr id="14" name="Text 11"/>
          <p:cNvSpPr/>
          <p:nvPr/>
        </p:nvSpPr>
        <p:spPr>
          <a:xfrm>
            <a:off x="685800" y="19933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USD 30,000</a:t>
            </a:r>
            <a:endParaRPr lang="en-US" sz="1300"/>
          </a:p>
        </p:txBody>
      </p:sp>
      <p:sp>
        <p:nvSpPr>
          <p:cNvPr id="15" name="Text 12"/>
          <p:cNvSpPr/>
          <p:nvPr/>
        </p:nvSpPr>
        <p:spPr>
          <a:xfrm>
            <a:off x="2423160" y="18288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협상 결과</a:t>
            </a:r>
            <a:endParaRPr lang="en-US" sz="850"/>
          </a:p>
        </p:txBody>
      </p:sp>
      <p:sp>
        <p:nvSpPr>
          <p:cNvPr id="16" name="Text 13"/>
          <p:cNvSpPr/>
          <p:nvPr/>
        </p:nvSpPr>
        <p:spPr>
          <a:xfrm>
            <a:off x="2423160" y="19933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USD 10,000</a:t>
            </a:r>
            <a:endParaRPr lang="en-US" sz="1150"/>
          </a:p>
          <a:p>
            <a:pPr marL="0" indent="0" algn="l">
              <a:buNone/>
            </a:pPr>
            <a:r>
              <a:rPr lang="en-US" sz="115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(Linkstay)</a:t>
            </a:r>
            <a:endParaRPr lang="en-US" sz="1150"/>
          </a:p>
        </p:txBody>
      </p:sp>
      <p:sp>
        <p:nvSpPr>
          <p:cNvPr id="17" name="Text 14"/>
          <p:cNvSpPr/>
          <p:nvPr/>
        </p:nvSpPr>
        <p:spPr>
          <a:xfrm>
            <a:off x="685800" y="240487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· 볼륨에 따라 협상</a:t>
            </a:r>
            <a:endParaRPr lang="en-US" sz="950"/>
          </a:p>
        </p:txBody>
      </p:sp>
      <p:sp>
        <p:nvSpPr>
          <p:cNvPr id="18" name="Shape 15"/>
          <p:cNvSpPr/>
          <p:nvPr/>
        </p:nvSpPr>
        <p:spPr>
          <a:xfrm>
            <a:off x="4572000" y="1234440"/>
            <a:ext cx="3931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4572000" y="1234440"/>
            <a:ext cx="73152" cy="146304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417320"/>
            <a:ext cx="320040" cy="3200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21208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Credit Ratio</a:t>
            </a:r>
            <a:endParaRPr lang="en-US" sz="1400"/>
          </a:p>
        </p:txBody>
      </p:sp>
      <p:sp>
        <p:nvSpPr>
          <p:cNvPr id="22" name="Text 18"/>
          <p:cNvSpPr/>
          <p:nvPr/>
        </p:nvSpPr>
        <p:spPr>
          <a:xfrm>
            <a:off x="4800600" y="18288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표준</a:t>
            </a:r>
            <a:endParaRPr lang="en-US" sz="850"/>
          </a:p>
        </p:txBody>
      </p:sp>
      <p:sp>
        <p:nvSpPr>
          <p:cNvPr id="23" name="Text 19"/>
          <p:cNvSpPr/>
          <p:nvPr/>
        </p:nvSpPr>
        <p:spPr>
          <a:xfrm>
            <a:off x="4800600" y="19933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1:1</a:t>
            </a:r>
            <a:endParaRPr lang="en-US" sz="1300"/>
          </a:p>
        </p:txBody>
      </p:sp>
      <p:sp>
        <p:nvSpPr>
          <p:cNvPr id="24" name="Text 20"/>
          <p:cNvSpPr/>
          <p:nvPr/>
        </p:nvSpPr>
        <p:spPr>
          <a:xfrm>
            <a:off x="6537960" y="18288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협상 결과</a:t>
            </a:r>
            <a:endParaRPr lang="en-US" sz="850"/>
          </a:p>
        </p:txBody>
      </p:sp>
      <p:sp>
        <p:nvSpPr>
          <p:cNvPr id="25" name="Text 21"/>
          <p:cNvSpPr/>
          <p:nvPr/>
        </p:nvSpPr>
        <p:spPr>
          <a:xfrm>
            <a:off x="6537960" y="19933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1:1 유지</a:t>
            </a:r>
            <a:endParaRPr lang="en-US" sz="1150"/>
          </a:p>
        </p:txBody>
      </p:sp>
      <p:sp>
        <p:nvSpPr>
          <p:cNvPr id="26" name="Text 22"/>
          <p:cNvSpPr/>
          <p:nvPr/>
        </p:nvSpPr>
        <p:spPr>
          <a:xfrm>
            <a:off x="4800600" y="240487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사수, 양보 금지</a:t>
            </a:r>
            <a:endParaRPr lang="en-US" sz="950"/>
          </a:p>
        </p:txBody>
      </p:sp>
      <p:sp>
        <p:nvSpPr>
          <p:cNvPr id="27" name="Shape 23"/>
          <p:cNvSpPr/>
          <p:nvPr/>
        </p:nvSpPr>
        <p:spPr>
          <a:xfrm>
            <a:off x="457200" y="2880360"/>
            <a:ext cx="3931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4"/>
          <p:cNvSpPr/>
          <p:nvPr/>
        </p:nvSpPr>
        <p:spPr>
          <a:xfrm>
            <a:off x="457200" y="2880360"/>
            <a:ext cx="73152" cy="146304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063240"/>
            <a:ext cx="320040" cy="32004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09728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Settlement</a:t>
            </a:r>
            <a:endParaRPr lang="en-US" sz="1400"/>
          </a:p>
        </p:txBody>
      </p:sp>
      <p:sp>
        <p:nvSpPr>
          <p:cNvPr id="31" name="Text 26"/>
          <p:cNvSpPr/>
          <p:nvPr/>
        </p:nvSpPr>
        <p:spPr>
          <a:xfrm>
            <a:off x="685800" y="34747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표준</a:t>
            </a:r>
            <a:endParaRPr lang="en-US" sz="850"/>
          </a:p>
        </p:txBody>
      </p:sp>
      <p:sp>
        <p:nvSpPr>
          <p:cNvPr id="32" name="Text 27"/>
          <p:cNvSpPr/>
          <p:nvPr/>
        </p:nvSpPr>
        <p:spPr>
          <a:xfrm>
            <a:off x="685800" y="3639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Bi-Weekly</a:t>
            </a:r>
            <a:endParaRPr lang="en-US" sz="1300"/>
          </a:p>
        </p:txBody>
      </p:sp>
      <p:sp>
        <p:nvSpPr>
          <p:cNvPr id="33" name="Text 28"/>
          <p:cNvSpPr/>
          <p:nvPr/>
        </p:nvSpPr>
        <p:spPr>
          <a:xfrm>
            <a:off x="2423160" y="34747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협상 결과</a:t>
            </a:r>
            <a:endParaRPr lang="en-US" sz="850"/>
          </a:p>
        </p:txBody>
      </p:sp>
      <p:sp>
        <p:nvSpPr>
          <p:cNvPr id="34" name="Text 29"/>
          <p:cNvSpPr/>
          <p:nvPr/>
        </p:nvSpPr>
        <p:spPr>
          <a:xfrm>
            <a:off x="2423160" y="36393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Bi-Weekly</a:t>
            </a:r>
            <a:endParaRPr lang="en-US" sz="1150"/>
          </a:p>
          <a:p>
            <a:pPr marL="0" indent="0" algn="l">
              <a:buNone/>
            </a:pPr>
            <a:r>
              <a:rPr lang="en-US" sz="115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(Check-out 기준)</a:t>
            </a:r>
            <a:endParaRPr lang="en-US" sz="1150"/>
          </a:p>
        </p:txBody>
      </p:sp>
      <p:sp>
        <p:nvSpPr>
          <p:cNvPr id="35" name="Text 30"/>
          <p:cNvSpPr/>
          <p:nvPr/>
        </p:nvSpPr>
        <p:spPr>
          <a:xfrm>
            <a:off x="685800" y="405079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주기는 표준 유지</a:t>
            </a:r>
            <a:endParaRPr lang="en-US" sz="950"/>
          </a:p>
        </p:txBody>
      </p:sp>
      <p:sp>
        <p:nvSpPr>
          <p:cNvPr id="36" name="Shape 31"/>
          <p:cNvSpPr/>
          <p:nvPr/>
        </p:nvSpPr>
        <p:spPr>
          <a:xfrm>
            <a:off x="4572000" y="2880360"/>
            <a:ext cx="3931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2"/>
          <p:cNvSpPr/>
          <p:nvPr/>
        </p:nvSpPr>
        <p:spPr>
          <a:xfrm>
            <a:off x="4572000" y="2880360"/>
            <a:ext cx="73152" cy="146304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063240"/>
            <a:ext cx="320040" cy="32004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21208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Currency</a:t>
            </a:r>
            <a:endParaRPr lang="en-US" sz="1400"/>
          </a:p>
        </p:txBody>
      </p:sp>
      <p:sp>
        <p:nvSpPr>
          <p:cNvPr id="40" name="Text 34"/>
          <p:cNvSpPr/>
          <p:nvPr/>
        </p:nvSpPr>
        <p:spPr>
          <a:xfrm>
            <a:off x="4800600" y="34747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표준</a:t>
            </a:r>
            <a:endParaRPr lang="en-US" sz="850"/>
          </a:p>
        </p:txBody>
      </p:sp>
      <p:sp>
        <p:nvSpPr>
          <p:cNvPr id="41" name="Text 35"/>
          <p:cNvSpPr/>
          <p:nvPr/>
        </p:nvSpPr>
        <p:spPr>
          <a:xfrm>
            <a:off x="4800600" y="3639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USD</a:t>
            </a:r>
            <a:endParaRPr lang="en-US" sz="1300"/>
          </a:p>
        </p:txBody>
      </p:sp>
      <p:sp>
        <p:nvSpPr>
          <p:cNvPr id="42" name="Text 36"/>
          <p:cNvSpPr/>
          <p:nvPr/>
        </p:nvSpPr>
        <p:spPr>
          <a:xfrm>
            <a:off x="6537960" y="34747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협상 결과</a:t>
            </a:r>
            <a:endParaRPr lang="en-US" sz="850"/>
          </a:p>
        </p:txBody>
      </p:sp>
      <p:sp>
        <p:nvSpPr>
          <p:cNvPr id="43" name="Text 37"/>
          <p:cNvSpPr/>
          <p:nvPr/>
        </p:nvSpPr>
        <p:spPr>
          <a:xfrm>
            <a:off x="6537960" y="36393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USD</a:t>
            </a:r>
            <a:endParaRPr lang="en-US" sz="1150"/>
          </a:p>
          <a:p>
            <a:pPr marL="0" indent="0" algn="l">
              <a:buNone/>
            </a:pPr>
            <a:r>
              <a:rPr lang="en-US" sz="115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(JPY 제안 거절)</a:t>
            </a:r>
            <a:endParaRPr lang="en-US" sz="1150"/>
          </a:p>
        </p:txBody>
      </p:sp>
      <p:sp>
        <p:nvSpPr>
          <p:cNvPr id="44" name="Text 38"/>
          <p:cNvSpPr/>
          <p:nvPr/>
        </p:nvSpPr>
        <p:spPr>
          <a:xfrm>
            <a:off x="4800600" y="405079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USD를 기본 통화로 고수</a:t>
            </a:r>
            <a:endParaRPr lang="en-US" sz="950"/>
          </a:p>
        </p:txBody>
      </p:sp>
      <p:sp>
        <p:nvSpPr>
          <p:cNvPr id="45" name="Shape 39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0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 4개 항목 합의안은 반드시 대표님 승인 후 확정 — 승인 전 고객사에 확약 금지. 대면 미팅이 협상 가속 핵심 (Linkstay 10/15 ITB Singapore 후 Deposit 합의)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434109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오마이 나이스 심사 &amp; 계약서·SLA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자체 심사 통과 → 조항별 검토 → SLA 분리 → 서명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Global Sales Training | API 연동 프로세스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17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흐름 (Linkstay 실제)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457200" y="1508760"/>
            <a:ext cx="77724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15087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10/17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1325880" y="1508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계약서 초안 송부 (나이스 심사 통과 후)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457200" y="1874520"/>
            <a:ext cx="77724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" y="1874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11/13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1325880" y="1874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코멘트 회신 (SLA 추가 제안 포함)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457200" y="2240280"/>
            <a:ext cx="77724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57200" y="22402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11/26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1325880" y="2240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검토 회신 + 하이라이트 코멘트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457200" y="2606040"/>
            <a:ext cx="77724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7200" y="2606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12/05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1325880" y="2606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SLA를 계약서 III.3, IV.3에 참조시키는 방안 논의</a:t>
            </a:r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77724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57200" y="29718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12/09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1325880" y="2971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SLA를 별도 문서로 분리 결정 + 수정 계약서 송부</a:t>
            </a:r>
            <a:endParaRPr lang="en-US" sz="1050"/>
          </a:p>
        </p:txBody>
      </p:sp>
      <p:sp>
        <p:nvSpPr>
          <p:cNvPr id="25" name="Shape 23"/>
          <p:cNvSpPr/>
          <p:nvPr/>
        </p:nvSpPr>
        <p:spPr>
          <a:xfrm>
            <a:off x="457200" y="3337560"/>
            <a:ext cx="77724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57200" y="33375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01/09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1325880" y="3337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양측 계약서 + SLA 서명 완료</a:t>
            </a:r>
            <a:endParaRPr lang="en-US" sz="1050"/>
          </a:p>
        </p:txBody>
      </p:sp>
      <p:sp>
        <p:nvSpPr>
          <p:cNvPr id="28" name="Shape 26"/>
          <p:cNvSpPr/>
          <p:nvPr/>
        </p:nvSpPr>
        <p:spPr>
          <a:xfrm>
            <a:off x="5029200" y="1188720"/>
            <a:ext cx="36576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21208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단골 이슈 TOP 4</a:t>
            </a:r>
            <a:endParaRPr lang="en-US" sz="1150"/>
          </a:p>
        </p:txBody>
      </p:sp>
      <p:sp>
        <p:nvSpPr>
          <p:cNvPr id="30" name="Shape 28"/>
          <p:cNvSpPr/>
          <p:nvPr/>
        </p:nvSpPr>
        <p:spPr>
          <a:xfrm>
            <a:off x="5212080" y="1673352"/>
            <a:ext cx="256032" cy="256032"/>
          </a:xfrm>
          <a:prstGeom prst="ellipse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212080" y="1673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5532120" y="16276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예약가 체크인 불가 시 처리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5532120" y="19202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솔루션 명문화. SLA에 구체적 처리 기준 정의</a:t>
            </a:r>
            <a:endParaRPr lang="en-US" sz="950"/>
          </a:p>
        </p:txBody>
      </p:sp>
      <p:sp>
        <p:nvSpPr>
          <p:cNvPr id="34" name="Shape 32"/>
          <p:cNvSpPr/>
          <p:nvPr/>
        </p:nvSpPr>
        <p:spPr>
          <a:xfrm>
            <a:off x="5212080" y="2386584"/>
            <a:ext cx="256032" cy="256032"/>
          </a:xfrm>
          <a:prstGeom prst="ellipse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212080" y="2386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/>
          </a:p>
        </p:txBody>
      </p:sp>
      <p:sp>
        <p:nvSpPr>
          <p:cNvPr id="36" name="Text 34"/>
          <p:cNvSpPr/>
          <p:nvPr/>
        </p:nvSpPr>
        <p:spPr>
          <a:xfrm>
            <a:off x="5532120" y="234086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"Party B 권리·의무" 범위</a:t>
            </a:r>
            <a:endParaRPr lang="en-US" sz="1100"/>
          </a:p>
        </p:txBody>
      </p:sp>
      <p:sp>
        <p:nvSpPr>
          <p:cNvPr id="37" name="Text 35"/>
          <p:cNvSpPr/>
          <p:nvPr/>
        </p:nvSpPr>
        <p:spPr>
          <a:xfrm>
            <a:off x="5532120" y="26334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API 송출 한정인지, 웹사이트 포함인지 명확화</a:t>
            </a:r>
            <a:endParaRPr lang="en-US" sz="950"/>
          </a:p>
        </p:txBody>
      </p:sp>
      <p:sp>
        <p:nvSpPr>
          <p:cNvPr id="38" name="Shape 36"/>
          <p:cNvSpPr/>
          <p:nvPr/>
        </p:nvSpPr>
        <p:spPr>
          <a:xfrm>
            <a:off x="5212080" y="3099816"/>
            <a:ext cx="256032" cy="256032"/>
          </a:xfrm>
          <a:prstGeom prst="ellipse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5212080" y="3099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/>
          </a:p>
        </p:txBody>
      </p:sp>
      <p:sp>
        <p:nvSpPr>
          <p:cNvPr id="40" name="Text 38"/>
          <p:cNvSpPr/>
          <p:nvPr/>
        </p:nvSpPr>
        <p:spPr>
          <a:xfrm>
            <a:off x="5532120" y="305409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청구 분쟁 해결 기한</a:t>
            </a:r>
            <a:endParaRPr lang="en-US" sz="1100"/>
          </a:p>
        </p:txBody>
      </p:sp>
      <p:sp>
        <p:nvSpPr>
          <p:cNvPr id="41" name="Text 39"/>
          <p:cNvSpPr/>
          <p:nvPr/>
        </p:nvSpPr>
        <p:spPr>
          <a:xfrm>
            <a:off x="5532120" y="334670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5 working days로는 부족하다는 반응. Penalty 조항과 연계 검토</a:t>
            </a:r>
            <a:endParaRPr lang="en-US" sz="950"/>
          </a:p>
        </p:txBody>
      </p:sp>
      <p:sp>
        <p:nvSpPr>
          <p:cNvPr id="42" name="Shape 40"/>
          <p:cNvSpPr/>
          <p:nvPr/>
        </p:nvSpPr>
        <p:spPr>
          <a:xfrm>
            <a:off x="5212080" y="3813048"/>
            <a:ext cx="256032" cy="256032"/>
          </a:xfrm>
          <a:prstGeom prst="ellipse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5212080" y="3813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/>
          </a:p>
        </p:txBody>
      </p:sp>
      <p:sp>
        <p:nvSpPr>
          <p:cNvPr id="44" name="Text 42"/>
          <p:cNvSpPr/>
          <p:nvPr/>
        </p:nvSpPr>
        <p:spPr>
          <a:xfrm>
            <a:off x="5532120" y="37673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1% Daily Payment Penalty</a:t>
            </a:r>
            <a:endParaRPr lang="en-US" sz="1100"/>
          </a:p>
        </p:txBody>
      </p:sp>
      <p:sp>
        <p:nvSpPr>
          <p:cNvPr id="45" name="Text 43"/>
          <p:cNvSpPr/>
          <p:nvPr/>
        </p:nvSpPr>
        <p:spPr>
          <a:xfrm>
            <a:off x="5532120" y="405993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분쟁 기간 적용 여부 단서 조항 협상 필요</a:t>
            </a:r>
            <a:endParaRPr lang="en-US" sz="950"/>
          </a:p>
        </p:txBody>
      </p:sp>
    </p:spTree>
    <p:extLst>
      <p:ext uri="{BB962C8B-B14F-4D97-AF65-F5344CB8AC3E}">
        <p14:creationId xmlns:p14="http://schemas.microsoft.com/office/powerpoint/2010/main" val="3151883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5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SPEC · DEV 환경 · DEV Key 제공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요청 → 개발팀 발급 → 세일즈 → 고객사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Global Sales Training | API 연동 프로세스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17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 액션 체크리스트</a:t>
            </a:r>
            <a:endParaRPr lang="en-US" sz="120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45336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15087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양측 서명본 PDF 보관 (OMH HQ / 고객사)</a:t>
            </a:r>
            <a:endParaRPr lang="en-US" sz="110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92808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" y="18562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개발팀에 DEV Credential 발급 요청 (Sales가 기안)</a:t>
            </a:r>
            <a:endParaRPr lang="en-US" sz="110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40280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1520" y="220370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API SPEC Site 링크 공유 (developer.ohmyhotel.com)</a:t>
            </a:r>
            <a:endParaRPr lang="en-US" sz="110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87752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1520" y="25511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DEV 환경 URL + DEV Key(Token·Secret) 전달</a:t>
            </a:r>
            <a:endParaRPr lang="en-US" sz="110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35224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31520" y="28986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고객사 IT 담당자 명단 + 접속 IP 주소 확보</a:t>
            </a:r>
            <a:endParaRPr lang="en-US" sz="110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82696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31520" y="32461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OMH 기술팀(@API SUPPORT) 채널 연결</a:t>
            </a:r>
            <a:endParaRPr lang="en-US" sz="110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30168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31520" y="35935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MS Teams 그룹 생성 → 이후 IT ↔ IT 직접 소통</a:t>
            </a:r>
            <a:endParaRPr lang="en-US" sz="1100"/>
          </a:p>
        </p:txBody>
      </p:sp>
      <p:sp>
        <p:nvSpPr>
          <p:cNvPr id="24" name="Shape 15"/>
          <p:cNvSpPr/>
          <p:nvPr/>
        </p:nvSpPr>
        <p:spPr>
          <a:xfrm>
            <a:off x="5212080" y="1188720"/>
            <a:ext cx="3474720" cy="3337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6"/>
          <p:cNvSpPr/>
          <p:nvPr/>
        </p:nvSpPr>
        <p:spPr>
          <a:xfrm>
            <a:off x="5349240" y="1298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전달 패키지</a:t>
            </a:r>
            <a:endParaRPr lang="en-US" sz="110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1737360"/>
            <a:ext cx="274320" cy="27432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852160" y="169164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Signed Contract</a:t>
            </a:r>
            <a:endParaRPr lang="en-US" sz="1100"/>
          </a:p>
        </p:txBody>
      </p:sp>
      <p:sp>
        <p:nvSpPr>
          <p:cNvPr id="28" name="Text 18"/>
          <p:cNvSpPr/>
          <p:nvPr/>
        </p:nvSpPr>
        <p:spPr>
          <a:xfrm>
            <a:off x="5852160" y="192024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양측 서명 PDF</a:t>
            </a:r>
            <a:endParaRPr lang="en-US" sz="95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2286000"/>
            <a:ext cx="274320" cy="27432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852160" y="224028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SPEC Site</a:t>
            </a:r>
            <a:endParaRPr lang="en-US" sz="1100"/>
          </a:p>
        </p:txBody>
      </p:sp>
      <p:sp>
        <p:nvSpPr>
          <p:cNvPr id="31" name="Text 20"/>
          <p:cNvSpPr/>
          <p:nvPr/>
        </p:nvSpPr>
        <p:spPr>
          <a:xfrm>
            <a:off x="5852160" y="246888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developer.ohmyhotel.com</a:t>
            </a:r>
            <a:endParaRPr lang="en-US" sz="95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834640"/>
            <a:ext cx="274320" cy="27432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5852160" y="278892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 Environment</a:t>
            </a:r>
            <a:endParaRPr lang="en-US" sz="1100"/>
          </a:p>
        </p:txBody>
      </p:sp>
      <p:sp>
        <p:nvSpPr>
          <p:cNvPr id="34" name="Text 22"/>
          <p:cNvSpPr/>
          <p:nvPr/>
        </p:nvSpPr>
        <p:spPr>
          <a:xfrm>
            <a:off x="5852160" y="301752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dev-api-ota-v2.ohmyhotel.com</a:t>
            </a:r>
            <a:endParaRPr lang="en-US" sz="950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0680" y="3383280"/>
            <a:ext cx="274320" cy="274320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5852160" y="333756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 Credential Key</a:t>
            </a:r>
            <a:endParaRPr lang="en-US" sz="1100"/>
          </a:p>
        </p:txBody>
      </p:sp>
      <p:sp>
        <p:nvSpPr>
          <p:cNvPr id="37" name="Text 24"/>
          <p:cNvSpPr/>
          <p:nvPr/>
        </p:nvSpPr>
        <p:spPr>
          <a:xfrm>
            <a:off x="5852160" y="35661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Token + Secret (개발팀 발급)</a:t>
            </a:r>
            <a:endParaRPr lang="en-US" sz="950"/>
          </a:p>
        </p:txBody>
      </p:sp>
      <p:pic>
        <p:nvPicPr>
          <p:cNvPr id="38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0680" y="3931920"/>
            <a:ext cx="274320" cy="274320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5852160" y="388620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Teams Channel</a:t>
            </a:r>
            <a:endParaRPr lang="en-US" sz="1100"/>
          </a:p>
        </p:txBody>
      </p:sp>
      <p:sp>
        <p:nvSpPr>
          <p:cNvPr id="40" name="Text 26"/>
          <p:cNvSpPr/>
          <p:nvPr/>
        </p:nvSpPr>
        <p:spPr>
          <a:xfrm>
            <a:off x="5852160" y="411480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IT ↔ OMH 개발팀</a:t>
            </a:r>
            <a:endParaRPr lang="en-US" sz="950"/>
          </a:p>
        </p:txBody>
      </p:sp>
    </p:spTree>
    <p:extLst>
      <p:ext uri="{BB962C8B-B14F-4D97-AF65-F5344CB8AC3E}">
        <p14:creationId xmlns:p14="http://schemas.microsoft.com/office/powerpoint/2010/main" val="102160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6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시나리오 &amp; 스테이징 테스트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배포 → 스테이징 검증 → Cert 문서 제출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Global Sales Training | API 연동 프로세스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17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제공 자료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457200" y="1508760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9436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Client Certification V2.1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594360" y="18013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 / 3rd include / Package rate → 1종 통합 필요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94360" y="2240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Hotel Static Information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594360" y="24871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호텔 마스터 + 객실 정보 (주 1회 갱신 원칙)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94360" y="2926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스테이징 환경 + 테스트 호텔코드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594360" y="3172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Hotel Code 764481 기준 공통 시나리오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9436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디버깅 지원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594360" y="3858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Teams 채널로 IT ↔ IT 실시간 대응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50292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제출물</a:t>
            </a:r>
            <a:endParaRPr lang="en-US" sz="1200"/>
          </a:p>
        </p:txBody>
      </p:sp>
      <p:sp>
        <p:nvSpPr>
          <p:cNvPr id="23" name="Shape 21"/>
          <p:cNvSpPr/>
          <p:nvPr/>
        </p:nvSpPr>
        <p:spPr>
          <a:xfrm>
            <a:off x="5029200" y="1508760"/>
            <a:ext cx="3657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5029200" y="1508760"/>
            <a:ext cx="73152" cy="59436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212080" y="1554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Test Result + Log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5212080" y="18013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API Request/Response 전량 (Availability → Cancel)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5029200" y="2194560"/>
            <a:ext cx="3657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029200" y="2194560"/>
            <a:ext cx="73152" cy="59436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212080" y="2240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Certification Form 기재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5212080" y="24871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 Detail · Technical Support · 접속 IP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5029200" y="2880360"/>
            <a:ext cx="3657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5029200" y="2880360"/>
            <a:ext cx="73152" cy="59436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212080" y="2926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Voucher 스크린 캡처</a:t>
            </a:r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5212080" y="31729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Payable by + Emergency contact 필수 표기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5029200" y="3566160"/>
            <a:ext cx="3657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5029200" y="3566160"/>
            <a:ext cx="73152" cy="59436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5212080" y="3611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 Acknowledgement 동의</a:t>
            </a:r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5212080" y="3858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Static 저장·매핑·MSP 등 6개 항목</a:t>
            </a:r>
            <a:endParaRPr lang="en-US" sz="1000"/>
          </a:p>
        </p:txBody>
      </p:sp>
      <p:sp>
        <p:nvSpPr>
          <p:cNvPr id="39" name="Shape 37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▸ 소통 원칙 — 고객사 IT ↔ OMH 개발팀 직접 소통이 기본. Sales는 일정 관리·에스컬레이션(PM 모드)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990902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7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완료 &amp; Deposit 입금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라이브키 발급의 두 가지 전제 조건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Global Sales Training | API 연동 프로세스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17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완료 판정 → 입금 프로세스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457200" y="160020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1600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86868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Cert 문서 + Log 수신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868680" y="1810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IT → OMH 개발팀 직접 제출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617220" y="1938528"/>
            <a:ext cx="0" cy="164592"/>
          </a:xfrm>
          <a:prstGeom prst="line">
            <a:avLst/>
          </a:prstGeom>
          <a:noFill/>
          <a:ln w="19050">
            <a:solidFill>
              <a:srgbClr val="E5E7E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57200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86868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개발팀 내부 검증</a:t>
            </a:r>
            <a:endParaRPr lang="en-US" sz="1150"/>
          </a:p>
        </p:txBody>
      </p:sp>
      <p:sp>
        <p:nvSpPr>
          <p:cNvPr id="18" name="Text 16"/>
          <p:cNvSpPr/>
          <p:nvPr/>
        </p:nvSpPr>
        <p:spPr>
          <a:xfrm>
            <a:off x="868680" y="2359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API 응답 · Voucher 요건 충족 확인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617220" y="2487168"/>
            <a:ext cx="0" cy="164592"/>
          </a:xfrm>
          <a:prstGeom prst="line">
            <a:avLst/>
          </a:prstGeom>
          <a:noFill/>
          <a:ln w="19050">
            <a:solidFill>
              <a:srgbClr val="E5E7E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57200" y="269748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7200" y="2697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86868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완료(Pass) 판정</a:t>
            </a:r>
            <a:endParaRPr lang="en-US" sz="115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미충족 항목은 재테스트 요청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617220" y="3035808"/>
            <a:ext cx="0" cy="164592"/>
          </a:xfrm>
          <a:prstGeom prst="line">
            <a:avLst/>
          </a:prstGeom>
          <a:noFill/>
          <a:ln w="19050">
            <a:solidFill>
              <a:srgbClr val="E5E7E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57200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86868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Deposit 송금 요청</a:t>
            </a:r>
            <a:endParaRPr lang="en-US" sz="1150"/>
          </a:p>
        </p:txBody>
      </p:sp>
      <p:sp>
        <p:nvSpPr>
          <p:cNvPr id="28" name="Text 26"/>
          <p:cNvSpPr/>
          <p:nvPr/>
        </p:nvSpPr>
        <p:spPr>
          <a:xfrm>
            <a:off x="868680" y="34564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지정 USD 계좌 · Bank Fee는 Party B 부담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617220" y="3584448"/>
            <a:ext cx="0" cy="164592"/>
          </a:xfrm>
          <a:prstGeom prst="line">
            <a:avLst/>
          </a:prstGeom>
          <a:noFill/>
          <a:ln w="19050">
            <a:solidFill>
              <a:srgbClr val="E5E7E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57200" y="379476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57200" y="3794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86868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입금 확인 → 라이브키 발급 승인</a:t>
            </a:r>
            <a:endParaRPr lang="en-US" sz="1150"/>
          </a:p>
        </p:txBody>
      </p:sp>
      <p:sp>
        <p:nvSpPr>
          <p:cNvPr id="33" name="Text 31"/>
          <p:cNvSpPr/>
          <p:nvPr/>
        </p:nvSpPr>
        <p:spPr>
          <a:xfrm>
            <a:off x="868680" y="40050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Cert Pass AND 입금, 두 조건 모두 충족 시</a:t>
            </a:r>
            <a:endParaRPr lang="en-US" sz="1000"/>
          </a:p>
        </p:txBody>
      </p:sp>
      <p:sp>
        <p:nvSpPr>
          <p:cNvPr id="34" name="Shape 32"/>
          <p:cNvSpPr/>
          <p:nvPr/>
        </p:nvSpPr>
        <p:spPr>
          <a:xfrm>
            <a:off x="5029200" y="1188720"/>
            <a:ext cx="3657600" cy="3337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21208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Linkstay 입금 사례</a:t>
            </a:r>
            <a:endParaRPr lang="en-US" sz="1100"/>
          </a:p>
        </p:txBody>
      </p:sp>
      <p:sp>
        <p:nvSpPr>
          <p:cNvPr id="36" name="Text 34"/>
          <p:cNvSpPr/>
          <p:nvPr/>
        </p:nvSpPr>
        <p:spPr>
          <a:xfrm>
            <a:off x="5212080" y="16916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USD 10,000</a:t>
            </a:r>
            <a:endParaRPr lang="en-US" sz="3600"/>
          </a:p>
        </p:txBody>
      </p:sp>
      <p:sp>
        <p:nvSpPr>
          <p:cNvPr id="37" name="Text 35"/>
          <p:cNvSpPr/>
          <p:nvPr/>
        </p:nvSpPr>
        <p:spPr>
          <a:xfrm>
            <a:off x="5212080" y="2331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Deposit · Credit Ratio 1:1</a:t>
            </a:r>
            <a:endParaRPr lang="en-US" sz="1100"/>
          </a:p>
        </p:txBody>
      </p:sp>
      <p:sp>
        <p:nvSpPr>
          <p:cNvPr id="38" name="Shape 36"/>
          <p:cNvSpPr/>
          <p:nvPr/>
        </p:nvSpPr>
        <p:spPr>
          <a:xfrm>
            <a:off x="5212080" y="2697480"/>
            <a:ext cx="3291840" cy="0"/>
          </a:xfrm>
          <a:prstGeom prst="line">
            <a:avLst/>
          </a:prstGeom>
          <a:noFill/>
          <a:ln w="12700">
            <a:solidFill>
              <a:srgbClr val="F9A8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5212080" y="28346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입금 통화</a:t>
            </a:r>
            <a:endParaRPr lang="en-US" sz="1000"/>
          </a:p>
        </p:txBody>
      </p:sp>
      <p:sp>
        <p:nvSpPr>
          <p:cNvPr id="40" name="Text 38"/>
          <p:cNvSpPr/>
          <p:nvPr/>
        </p:nvSpPr>
        <p:spPr>
          <a:xfrm>
            <a:off x="6675120" y="28346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USD</a:t>
            </a:r>
            <a:endParaRPr lang="en-US" sz="1000"/>
          </a:p>
        </p:txBody>
      </p:sp>
      <p:sp>
        <p:nvSpPr>
          <p:cNvPr id="41" name="Text 39"/>
          <p:cNvSpPr/>
          <p:nvPr/>
        </p:nvSpPr>
        <p:spPr>
          <a:xfrm>
            <a:off x="5212080" y="31638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Bank Fee</a:t>
            </a:r>
            <a:endParaRPr lang="en-US" sz="1000"/>
          </a:p>
        </p:txBody>
      </p:sp>
      <p:sp>
        <p:nvSpPr>
          <p:cNvPr id="42" name="Text 40"/>
          <p:cNvSpPr/>
          <p:nvPr/>
        </p:nvSpPr>
        <p:spPr>
          <a:xfrm>
            <a:off x="6675120" y="31638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Linkstay 부담</a:t>
            </a:r>
            <a:endParaRPr lang="en-US" sz="1000"/>
          </a:p>
        </p:txBody>
      </p:sp>
      <p:sp>
        <p:nvSpPr>
          <p:cNvPr id="43" name="Text 41"/>
          <p:cNvSpPr/>
          <p:nvPr/>
        </p:nvSpPr>
        <p:spPr>
          <a:xfrm>
            <a:off x="5212080" y="34930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송금일</a:t>
            </a:r>
            <a:endParaRPr lang="en-US" sz="1000"/>
          </a:p>
        </p:txBody>
      </p:sp>
      <p:sp>
        <p:nvSpPr>
          <p:cNvPr id="44" name="Text 42"/>
          <p:cNvSpPr/>
          <p:nvPr/>
        </p:nvSpPr>
        <p:spPr>
          <a:xfrm>
            <a:off x="6675120" y="34930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2026.04.30</a:t>
            </a:r>
            <a:endParaRPr lang="en-US" sz="1000"/>
          </a:p>
        </p:txBody>
      </p:sp>
      <p:sp>
        <p:nvSpPr>
          <p:cNvPr id="45" name="Text 43"/>
          <p:cNvSpPr/>
          <p:nvPr/>
        </p:nvSpPr>
        <p:spPr>
          <a:xfrm>
            <a:off x="5212080" y="38221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입증 자료</a:t>
            </a:r>
            <a:endParaRPr lang="en-US" sz="1000"/>
          </a:p>
        </p:txBody>
      </p:sp>
      <p:sp>
        <p:nvSpPr>
          <p:cNvPr id="46" name="Text 44"/>
          <p:cNvSpPr/>
          <p:nvPr/>
        </p:nvSpPr>
        <p:spPr>
          <a:xfrm>
            <a:off x="6675120" y="3822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송금 영수증 PDF</a:t>
            </a:r>
            <a:endParaRPr lang="en-US" sz="1000"/>
          </a:p>
        </p:txBody>
      </p:sp>
      <p:sp>
        <p:nvSpPr>
          <p:cNvPr id="47" name="Text 45"/>
          <p:cNvSpPr/>
          <p:nvPr/>
        </p:nvSpPr>
        <p:spPr>
          <a:xfrm>
            <a:off x="5212080" y="41513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 Cert 발급</a:t>
            </a:r>
            <a:endParaRPr lang="en-US" sz="1000"/>
          </a:p>
        </p:txBody>
      </p:sp>
      <p:sp>
        <p:nvSpPr>
          <p:cNvPr id="48" name="Text 46"/>
          <p:cNvSpPr/>
          <p:nvPr/>
        </p:nvSpPr>
        <p:spPr>
          <a:xfrm>
            <a:off x="6675120" y="41513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검토 후 진행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503986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8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Certification (라이브키) 발급 &amp; Live Test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개발팀 → 세일즈 → 고객사 전달 + 실거래 검증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Global Sales Training | API 연동 프로세스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17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라이브키 발급 절차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457200" y="1508760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8640" y="16733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960120" y="15819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라이브키 발급 (개발팀)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960120" y="18562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Cert Pass + 입금 확인 후 PROD 자격증명 생성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457200" y="2240280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8640" y="24048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960120" y="23134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경유 전달</a:t>
            </a:r>
            <a:endParaRPr lang="en-US" sz="1150"/>
          </a:p>
        </p:txBody>
      </p:sp>
      <p:sp>
        <p:nvSpPr>
          <p:cNvPr id="17" name="Text 15"/>
          <p:cNvSpPr/>
          <p:nvPr/>
        </p:nvSpPr>
        <p:spPr>
          <a:xfrm>
            <a:off x="960120" y="258775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개발팀 → 세일즈 → 고객사 (전달 이력 기록)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48640" y="3136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960120" y="30449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 적용 + 실거래 테스트 부킹</a:t>
            </a:r>
            <a:endParaRPr lang="en-US" sz="1150"/>
          </a:p>
        </p:txBody>
      </p:sp>
      <p:sp>
        <p:nvSpPr>
          <p:cNvPr id="21" name="Text 19"/>
          <p:cNvSpPr/>
          <p:nvPr/>
        </p:nvSpPr>
        <p:spPr>
          <a:xfrm>
            <a:off x="960120" y="331927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1건 이상 부킹 + 부킹번호 회신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48640" y="3867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/>
          </a:p>
        </p:txBody>
      </p:sp>
      <p:sp>
        <p:nvSpPr>
          <p:cNvPr id="24" name="Text 22"/>
          <p:cNvSpPr/>
          <p:nvPr/>
        </p:nvSpPr>
        <p:spPr>
          <a:xfrm>
            <a:off x="960120" y="37764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부킹 확인 → Go-Live 일정 공지</a:t>
            </a:r>
            <a:endParaRPr lang="en-US" sz="1150"/>
          </a:p>
        </p:txBody>
      </p:sp>
      <p:sp>
        <p:nvSpPr>
          <p:cNvPr id="25" name="Text 23"/>
          <p:cNvSpPr/>
          <p:nvPr/>
        </p:nvSpPr>
        <p:spPr>
          <a:xfrm>
            <a:off x="960120" y="405079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ELLIS 기록 확인 후 런칭 D-Day 사전 통보</a:t>
            </a:r>
            <a:endParaRPr lang="en-US" sz="1000"/>
          </a:p>
        </p:txBody>
      </p:sp>
      <p:sp>
        <p:nvSpPr>
          <p:cNvPr id="26" name="Shape 24"/>
          <p:cNvSpPr/>
          <p:nvPr/>
        </p:nvSpPr>
        <p:spPr>
          <a:xfrm>
            <a:off x="5029200" y="1188720"/>
            <a:ext cx="36576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21208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Channel Information (양측 교환)</a:t>
            </a:r>
            <a:endParaRPr lang="en-US" sz="1100"/>
          </a:p>
        </p:txBody>
      </p:sp>
      <p:sp>
        <p:nvSpPr>
          <p:cNvPr id="28" name="Shape 26"/>
          <p:cNvSpPr/>
          <p:nvPr/>
        </p:nvSpPr>
        <p:spPr>
          <a:xfrm>
            <a:off x="5212080" y="1600200"/>
            <a:ext cx="3291840" cy="73152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212080" y="1709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Channel BD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6629400" y="17099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협력·확장 담당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5212080" y="2011680"/>
            <a:ext cx="3291840" cy="73152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212080" y="2121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6629400" y="21214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응대·환불·VOC</a:t>
            </a:r>
            <a:endParaRPr lang="en-US" sz="1000"/>
          </a:p>
        </p:txBody>
      </p:sp>
      <p:sp>
        <p:nvSpPr>
          <p:cNvPr id="34" name="Shape 32"/>
          <p:cNvSpPr/>
          <p:nvPr/>
        </p:nvSpPr>
        <p:spPr>
          <a:xfrm>
            <a:off x="5212080" y="2423160"/>
            <a:ext cx="3291840" cy="73152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212080" y="25328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Operation</a:t>
            </a:r>
            <a:endParaRPr lang="en-US" sz="1100"/>
          </a:p>
        </p:txBody>
      </p:sp>
      <p:sp>
        <p:nvSpPr>
          <p:cNvPr id="36" name="Text 34"/>
          <p:cNvSpPr/>
          <p:nvPr/>
        </p:nvSpPr>
        <p:spPr>
          <a:xfrm>
            <a:off x="6629400" y="25328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처리·인벤토리</a:t>
            </a:r>
            <a:endParaRPr lang="en-US" sz="1000"/>
          </a:p>
        </p:txBody>
      </p:sp>
      <p:sp>
        <p:nvSpPr>
          <p:cNvPr id="37" name="Shape 35"/>
          <p:cNvSpPr/>
          <p:nvPr/>
        </p:nvSpPr>
        <p:spPr>
          <a:xfrm>
            <a:off x="5212080" y="2834640"/>
            <a:ext cx="3291840" cy="73152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212080" y="29443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Finance</a:t>
            </a:r>
            <a:endParaRPr lang="en-US" sz="1100"/>
          </a:p>
        </p:txBody>
      </p:sp>
      <p:sp>
        <p:nvSpPr>
          <p:cNvPr id="39" name="Text 37"/>
          <p:cNvSpPr/>
          <p:nvPr/>
        </p:nvSpPr>
        <p:spPr>
          <a:xfrm>
            <a:off x="6629400" y="29443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정산·인보이스·세금</a:t>
            </a:r>
            <a:endParaRPr lang="en-US" sz="1000"/>
          </a:p>
        </p:txBody>
      </p:sp>
      <p:sp>
        <p:nvSpPr>
          <p:cNvPr id="40" name="Shape 38"/>
          <p:cNvSpPr/>
          <p:nvPr/>
        </p:nvSpPr>
        <p:spPr>
          <a:xfrm>
            <a:off x="5212080" y="3246120"/>
            <a:ext cx="3291840" cy="73152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5212080" y="3355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</a:t>
            </a:r>
            <a:endParaRPr lang="en-US" sz="1100"/>
          </a:p>
        </p:txBody>
      </p:sp>
      <p:sp>
        <p:nvSpPr>
          <p:cNvPr id="42" name="Text 40"/>
          <p:cNvSpPr/>
          <p:nvPr/>
        </p:nvSpPr>
        <p:spPr>
          <a:xfrm>
            <a:off x="6629400" y="33558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API·시스템 장애 대응</a:t>
            </a:r>
            <a:endParaRPr lang="en-US" sz="1000"/>
          </a:p>
        </p:txBody>
      </p:sp>
      <p:sp>
        <p:nvSpPr>
          <p:cNvPr id="43" name="Shape 41"/>
          <p:cNvSpPr/>
          <p:nvPr/>
        </p:nvSpPr>
        <p:spPr>
          <a:xfrm>
            <a:off x="5212080" y="3703320"/>
            <a:ext cx="329184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5303520" y="37490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VN OP Hours (참고)</a:t>
            </a:r>
            <a:endParaRPr lang="en-US" sz="900"/>
          </a:p>
        </p:txBody>
      </p:sp>
      <p:sp>
        <p:nvSpPr>
          <p:cNvPr id="45" name="Text 43"/>
          <p:cNvSpPr/>
          <p:nvPr/>
        </p:nvSpPr>
        <p:spPr>
          <a:xfrm>
            <a:off x="5303520" y="39502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평일 </a:t>
            </a:r>
            <a:r>
              <a:rPr lang="en-US" sz="90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06:00–17:15 (Office) / 17:15–22:30 (Hotline)</a:t>
            </a:r>
            <a:endParaRPr lang="en-US" sz="900"/>
          </a:p>
          <a:p>
            <a:pPr marL="0" indent="0" algn="l">
              <a:buNone/>
            </a:pPr>
            <a:r>
              <a:rPr lang="en-US" sz="9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주말 </a:t>
            </a:r>
            <a:r>
              <a:rPr lang="en-US" sz="90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08:00–20:00 (Hotline)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180825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9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Go-Live / 라이브 완료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런칭 + 초기 모니터링 + 셀스루 가속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Global Sales Training | API 연동 프로세스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17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2697480" cy="640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13075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Pre-Launch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640080" y="16002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D-7 ~ D-1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457200" y="1874520"/>
            <a:ext cx="26974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40080" y="2148840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22960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Go-Live 날짜 양측 공식 확정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640080" y="2715768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22960" y="26243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양측 IT 모니터링 시프트 배정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640080" y="328269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22960" y="319125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OP/CS팀 사전 브리핑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640080" y="384962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22960" y="375818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인벤토리·요금 최종 점검</a:t>
            </a:r>
            <a:endParaRPr lang="en-US" sz="1050"/>
          </a:p>
        </p:txBody>
      </p:sp>
      <p:sp>
        <p:nvSpPr>
          <p:cNvPr id="21" name="Shape 19"/>
          <p:cNvSpPr/>
          <p:nvPr/>
        </p:nvSpPr>
        <p:spPr>
          <a:xfrm>
            <a:off x="3273552" y="1234440"/>
            <a:ext cx="2697480" cy="64008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456432" y="13075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Launch Day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3456432" y="16002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D-Day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3273552" y="1874520"/>
            <a:ext cx="26974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456432" y="2148840"/>
            <a:ext cx="91440" cy="91440"/>
          </a:xfrm>
          <a:prstGeom prst="ellipse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639312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 채널 활성화 (고객사 측 토글)</a:t>
            </a:r>
            <a:endParaRPr lang="en-US" sz="1050"/>
          </a:p>
        </p:txBody>
      </p:sp>
      <p:sp>
        <p:nvSpPr>
          <p:cNvPr id="27" name="Shape 25"/>
          <p:cNvSpPr/>
          <p:nvPr/>
        </p:nvSpPr>
        <p:spPr>
          <a:xfrm>
            <a:off x="3456432" y="2715768"/>
            <a:ext cx="91440" cy="91440"/>
          </a:xfrm>
          <a:prstGeom prst="ellipse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3639312" y="26243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개발팀 대기 (Teams 즉시 대응)</a:t>
            </a:r>
            <a:endParaRPr lang="en-US" sz="1050"/>
          </a:p>
        </p:txBody>
      </p:sp>
      <p:sp>
        <p:nvSpPr>
          <p:cNvPr id="29" name="Shape 27"/>
          <p:cNvSpPr/>
          <p:nvPr/>
        </p:nvSpPr>
        <p:spPr>
          <a:xfrm>
            <a:off x="3456432" y="3282696"/>
            <a:ext cx="91440" cy="91440"/>
          </a:xfrm>
          <a:prstGeom prst="ellipse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639312" y="319125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IT 대기 (Teams 즉시 대응)</a:t>
            </a:r>
            <a:endParaRPr lang="en-US" sz="1050"/>
          </a:p>
        </p:txBody>
      </p:sp>
      <p:sp>
        <p:nvSpPr>
          <p:cNvPr id="31" name="Shape 29"/>
          <p:cNvSpPr/>
          <p:nvPr/>
        </p:nvSpPr>
        <p:spPr>
          <a:xfrm>
            <a:off x="3456432" y="3849624"/>
            <a:ext cx="91440" cy="91440"/>
          </a:xfrm>
          <a:prstGeom prst="ellipse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3639312" y="375818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Sales는 양측 커뮤니케이션 중심</a:t>
            </a:r>
            <a:endParaRPr lang="en-US" sz="1050"/>
          </a:p>
        </p:txBody>
      </p:sp>
      <p:sp>
        <p:nvSpPr>
          <p:cNvPr id="33" name="Shape 31"/>
          <p:cNvSpPr/>
          <p:nvPr/>
        </p:nvSpPr>
        <p:spPr>
          <a:xfrm>
            <a:off x="6089904" y="1234440"/>
            <a:ext cx="2697480" cy="640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272784" y="13075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Post-Launch</a:t>
            </a:r>
            <a:endParaRPr lang="en-US" sz="1400"/>
          </a:p>
        </p:txBody>
      </p:sp>
      <p:sp>
        <p:nvSpPr>
          <p:cNvPr id="35" name="Text 33"/>
          <p:cNvSpPr/>
          <p:nvPr/>
        </p:nvSpPr>
        <p:spPr>
          <a:xfrm>
            <a:off x="6272784" y="16002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D+1 ~ D+30</a:t>
            </a:r>
            <a:endParaRPr lang="en-US" sz="1000"/>
          </a:p>
        </p:txBody>
      </p:sp>
      <p:sp>
        <p:nvSpPr>
          <p:cNvPr id="36" name="Shape 34"/>
          <p:cNvSpPr/>
          <p:nvPr/>
        </p:nvSpPr>
        <p:spPr>
          <a:xfrm>
            <a:off x="6089904" y="1874520"/>
            <a:ext cx="26974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6272784" y="2148840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455664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부킹/매출 데이터 공유</a:t>
            </a:r>
            <a:endParaRPr lang="en-US" sz="1050"/>
          </a:p>
        </p:txBody>
      </p:sp>
      <p:sp>
        <p:nvSpPr>
          <p:cNvPr id="39" name="Shape 37"/>
          <p:cNvSpPr/>
          <p:nvPr/>
        </p:nvSpPr>
        <p:spPr>
          <a:xfrm>
            <a:off x="6272784" y="2715768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6455664" y="26243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에러율·취소율 모니터링</a:t>
            </a:r>
            <a:endParaRPr lang="en-US" sz="1050"/>
          </a:p>
        </p:txBody>
      </p:sp>
      <p:sp>
        <p:nvSpPr>
          <p:cNvPr id="41" name="Shape 39"/>
          <p:cNvSpPr/>
          <p:nvPr/>
        </p:nvSpPr>
        <p:spPr>
          <a:xfrm>
            <a:off x="6272784" y="328269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6455664" y="319125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Top-Selling 호텔 보강 권고</a:t>
            </a:r>
            <a:endParaRPr lang="en-US" sz="1050"/>
          </a:p>
        </p:txBody>
      </p:sp>
      <p:sp>
        <p:nvSpPr>
          <p:cNvPr id="43" name="Shape 41"/>
          <p:cNvSpPr/>
          <p:nvPr/>
        </p:nvSpPr>
        <p:spPr>
          <a:xfrm>
            <a:off x="6272784" y="384962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6455664" y="375818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월간 정산 사이클 진입</a:t>
            </a:r>
            <a:endParaRPr lang="en-US" sz="1050"/>
          </a:p>
        </p:txBody>
      </p:sp>
      <p:sp>
        <p:nvSpPr>
          <p:cNvPr id="45" name="Shape 43"/>
          <p:cNvSpPr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Linkstay 실제: Cert 통과 (4/29) → Deposit 입금 (4/30) → 라이브키 발급 → Live Test (5/7) → 라이브 완료 (5월 중) — 약 2주</a:t>
            </a:r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2607651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표준 거래 조건</a:t>
            </a:r>
            <a:endParaRPr lang="en-US" sz="220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협상 시 알고 있어야 할 기준선</a:t>
            </a:r>
            <a:endParaRPr lang="en-US" sz="120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Global Sales Training | API 연동 프로세스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17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46304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Term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1920240" y="1280160"/>
            <a:ext cx="164592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011680" y="1280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Standard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3566160" y="1280160"/>
            <a:ext cx="310896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657600" y="1280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협상 가능 범위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6675120" y="1280160"/>
            <a:ext cx="201168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766560" y="1280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 권한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457200" y="1691640"/>
            <a:ext cx="14630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48640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Deposit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1920240" y="1691640"/>
            <a:ext cx="164592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2011680" y="1691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USD 30,000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3566160" y="1691640"/>
            <a:ext cx="31089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657600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USD 10,000 (Tier 1 고객) ~ Bank Guarantee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6675120" y="1691640"/>
            <a:ext cx="20116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76656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Director 승인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57200" y="2057400"/>
            <a:ext cx="1463040" cy="365760"/>
          </a:xfrm>
          <a:prstGeom prst="rect">
            <a:avLst/>
          </a:prstGeom>
          <a:solidFill>
            <a:srgbClr val="F8F9F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48640" y="2057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Credit Ratio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1920240" y="2057400"/>
            <a:ext cx="1645920" cy="365760"/>
          </a:xfrm>
          <a:prstGeom prst="rect">
            <a:avLst/>
          </a:prstGeom>
          <a:solidFill>
            <a:srgbClr val="F8F9F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2011680" y="2057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1:1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3566160" y="2057400"/>
            <a:ext cx="3108960" cy="365760"/>
          </a:xfrm>
          <a:prstGeom prst="rect">
            <a:avLst/>
          </a:prstGeom>
          <a:solidFill>
            <a:srgbClr val="F8F9F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3657600" y="2057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불가 (원칙)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6675120" y="2057400"/>
            <a:ext cx="2011680" cy="365760"/>
          </a:xfrm>
          <a:prstGeom prst="rect">
            <a:avLst/>
          </a:prstGeom>
          <a:solidFill>
            <a:srgbClr val="F8F9F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76656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양보 불가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457200" y="2423160"/>
            <a:ext cx="14630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48640" y="2423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Currency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1920240" y="2423160"/>
            <a:ext cx="164592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2011680" y="2423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USD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3566160" y="2423160"/>
            <a:ext cx="31089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3657600" y="2423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USD 고수 (JPY/KRW/CNY 요청 거절)</a:t>
            </a:r>
            <a:endParaRPr lang="en-US" sz="1000"/>
          </a:p>
        </p:txBody>
      </p:sp>
      <p:sp>
        <p:nvSpPr>
          <p:cNvPr id="37" name="Shape 35"/>
          <p:cNvSpPr/>
          <p:nvPr/>
        </p:nvSpPr>
        <p:spPr>
          <a:xfrm>
            <a:off x="6675120" y="2423160"/>
            <a:ext cx="20116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766560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Director 사전 협의</a:t>
            </a:r>
            <a:endParaRPr lang="en-US" sz="1000"/>
          </a:p>
        </p:txBody>
      </p:sp>
      <p:sp>
        <p:nvSpPr>
          <p:cNvPr id="39" name="Shape 37"/>
          <p:cNvSpPr/>
          <p:nvPr/>
        </p:nvSpPr>
        <p:spPr>
          <a:xfrm>
            <a:off x="457200" y="2788920"/>
            <a:ext cx="1463040" cy="365760"/>
          </a:xfrm>
          <a:prstGeom prst="rect">
            <a:avLst/>
          </a:prstGeom>
          <a:solidFill>
            <a:srgbClr val="F8F9F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548640" y="2788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Settlement</a:t>
            </a:r>
            <a:endParaRPr lang="en-US" sz="1000"/>
          </a:p>
        </p:txBody>
      </p:sp>
      <p:sp>
        <p:nvSpPr>
          <p:cNvPr id="41" name="Shape 39"/>
          <p:cNvSpPr/>
          <p:nvPr/>
        </p:nvSpPr>
        <p:spPr>
          <a:xfrm>
            <a:off x="1920240" y="2788920"/>
            <a:ext cx="1645920" cy="365760"/>
          </a:xfrm>
          <a:prstGeom prst="rect">
            <a:avLst/>
          </a:prstGeom>
          <a:solidFill>
            <a:srgbClr val="F8F9F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2011680" y="2788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Bi-Weekly</a:t>
            </a:r>
            <a:endParaRPr lang="en-US" sz="1000"/>
          </a:p>
        </p:txBody>
      </p:sp>
      <p:sp>
        <p:nvSpPr>
          <p:cNvPr id="43" name="Shape 41"/>
          <p:cNvSpPr/>
          <p:nvPr/>
        </p:nvSpPr>
        <p:spPr>
          <a:xfrm>
            <a:off x="3566160" y="2788920"/>
            <a:ext cx="3108960" cy="365760"/>
          </a:xfrm>
          <a:prstGeom prst="rect">
            <a:avLst/>
          </a:prstGeom>
          <a:solidFill>
            <a:srgbClr val="F8F9F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3657600" y="2788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Bi-Weekly (주기 변경 불가)</a:t>
            </a:r>
            <a:endParaRPr lang="en-US" sz="1000"/>
          </a:p>
        </p:txBody>
      </p:sp>
      <p:sp>
        <p:nvSpPr>
          <p:cNvPr id="45" name="Shape 43"/>
          <p:cNvSpPr/>
          <p:nvPr/>
        </p:nvSpPr>
        <p:spPr>
          <a:xfrm>
            <a:off x="6675120" y="2788920"/>
            <a:ext cx="2011680" cy="365760"/>
          </a:xfrm>
          <a:prstGeom prst="rect">
            <a:avLst/>
          </a:prstGeom>
          <a:solidFill>
            <a:srgbClr val="F8F9F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676656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양보 불가</a:t>
            </a:r>
            <a:endParaRPr lang="en-US" sz="1000"/>
          </a:p>
        </p:txBody>
      </p:sp>
      <p:sp>
        <p:nvSpPr>
          <p:cNvPr id="47" name="Shape 45"/>
          <p:cNvSpPr/>
          <p:nvPr/>
        </p:nvSpPr>
        <p:spPr>
          <a:xfrm>
            <a:off x="457200" y="3154680"/>
            <a:ext cx="14630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548640" y="3154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Settlement 기준</a:t>
            </a:r>
            <a:endParaRPr lang="en-US" sz="1000"/>
          </a:p>
        </p:txBody>
      </p:sp>
      <p:sp>
        <p:nvSpPr>
          <p:cNvPr id="49" name="Shape 47"/>
          <p:cNvSpPr/>
          <p:nvPr/>
        </p:nvSpPr>
        <p:spPr>
          <a:xfrm>
            <a:off x="1920240" y="3154680"/>
            <a:ext cx="164592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2011680" y="3154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Check-Out 기준</a:t>
            </a:r>
            <a:endParaRPr lang="en-US" sz="1000"/>
          </a:p>
        </p:txBody>
      </p:sp>
      <p:sp>
        <p:nvSpPr>
          <p:cNvPr id="51" name="Shape 49"/>
          <p:cNvSpPr/>
          <p:nvPr/>
        </p:nvSpPr>
        <p:spPr>
          <a:xfrm>
            <a:off x="3566160" y="3154680"/>
            <a:ext cx="31089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365760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Check-Out 기준 유지</a:t>
            </a:r>
            <a:endParaRPr lang="en-US" sz="1000"/>
          </a:p>
        </p:txBody>
      </p:sp>
      <p:sp>
        <p:nvSpPr>
          <p:cNvPr id="53" name="Shape 51"/>
          <p:cNvSpPr/>
          <p:nvPr/>
        </p:nvSpPr>
        <p:spPr>
          <a:xfrm>
            <a:off x="6675120" y="3154680"/>
            <a:ext cx="20116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676656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양보 불가</a:t>
            </a:r>
            <a:endParaRPr lang="en-US" sz="1000"/>
          </a:p>
        </p:txBody>
      </p:sp>
      <p:sp>
        <p:nvSpPr>
          <p:cNvPr id="55" name="Shape 53"/>
          <p:cNvSpPr/>
          <p:nvPr/>
        </p:nvSpPr>
        <p:spPr>
          <a:xfrm>
            <a:off x="457200" y="3520440"/>
            <a:ext cx="1463040" cy="365760"/>
          </a:xfrm>
          <a:prstGeom prst="rect">
            <a:avLst/>
          </a:prstGeom>
          <a:solidFill>
            <a:srgbClr val="F8F9F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548640" y="3520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Bank Fee</a:t>
            </a:r>
            <a:endParaRPr lang="en-US" sz="1000"/>
          </a:p>
        </p:txBody>
      </p:sp>
      <p:sp>
        <p:nvSpPr>
          <p:cNvPr id="57" name="Shape 55"/>
          <p:cNvSpPr/>
          <p:nvPr/>
        </p:nvSpPr>
        <p:spPr>
          <a:xfrm>
            <a:off x="1920240" y="3520440"/>
            <a:ext cx="1645920" cy="365760"/>
          </a:xfrm>
          <a:prstGeom prst="rect">
            <a:avLst/>
          </a:prstGeom>
          <a:solidFill>
            <a:srgbClr val="F8F9F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2011680" y="3520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Party B (고객사) 부담</a:t>
            </a:r>
            <a:endParaRPr lang="en-US" sz="1000"/>
          </a:p>
        </p:txBody>
      </p:sp>
      <p:sp>
        <p:nvSpPr>
          <p:cNvPr id="59" name="Shape 57"/>
          <p:cNvSpPr/>
          <p:nvPr/>
        </p:nvSpPr>
        <p:spPr>
          <a:xfrm>
            <a:off x="3566160" y="3520440"/>
            <a:ext cx="3108960" cy="365760"/>
          </a:xfrm>
          <a:prstGeom prst="rect">
            <a:avLst/>
          </a:prstGeom>
          <a:solidFill>
            <a:srgbClr val="F8F9F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3657600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양보 불가</a:t>
            </a:r>
            <a:endParaRPr lang="en-US" sz="1000"/>
          </a:p>
        </p:txBody>
      </p:sp>
      <p:sp>
        <p:nvSpPr>
          <p:cNvPr id="61" name="Shape 59"/>
          <p:cNvSpPr/>
          <p:nvPr/>
        </p:nvSpPr>
        <p:spPr>
          <a:xfrm>
            <a:off x="6675120" y="3520440"/>
            <a:ext cx="2011680" cy="365760"/>
          </a:xfrm>
          <a:prstGeom prst="rect">
            <a:avLst/>
          </a:prstGeom>
          <a:solidFill>
            <a:srgbClr val="F8F9F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676656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양보 불가</a:t>
            </a:r>
            <a:endParaRPr lang="en-US" sz="1000"/>
          </a:p>
        </p:txBody>
      </p:sp>
      <p:sp>
        <p:nvSpPr>
          <p:cNvPr id="63" name="Shape 61"/>
          <p:cNvSpPr/>
          <p:nvPr/>
        </p:nvSpPr>
        <p:spPr>
          <a:xfrm>
            <a:off x="457200" y="3886200"/>
            <a:ext cx="14630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548640" y="3886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Payment Penalty</a:t>
            </a:r>
            <a:endParaRPr lang="en-US" sz="1000"/>
          </a:p>
        </p:txBody>
      </p:sp>
      <p:sp>
        <p:nvSpPr>
          <p:cNvPr id="65" name="Shape 63"/>
          <p:cNvSpPr/>
          <p:nvPr/>
        </p:nvSpPr>
        <p:spPr>
          <a:xfrm>
            <a:off x="1920240" y="3886200"/>
            <a:ext cx="164592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2011680" y="3886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1% / Day</a:t>
            </a:r>
            <a:endParaRPr lang="en-US" sz="1000"/>
          </a:p>
        </p:txBody>
      </p:sp>
      <p:sp>
        <p:nvSpPr>
          <p:cNvPr id="67" name="Shape 65"/>
          <p:cNvSpPr/>
          <p:nvPr/>
        </p:nvSpPr>
        <p:spPr>
          <a:xfrm>
            <a:off x="3566160" y="3886200"/>
            <a:ext cx="31089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/>
          <p:nvPr/>
        </p:nvSpPr>
        <p:spPr>
          <a:xfrm>
            <a:off x="3657600" y="3886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분쟁 기간 면제 단서 가능</a:t>
            </a:r>
            <a:endParaRPr lang="en-US" sz="1000"/>
          </a:p>
        </p:txBody>
      </p:sp>
      <p:sp>
        <p:nvSpPr>
          <p:cNvPr id="69" name="Shape 67"/>
          <p:cNvSpPr/>
          <p:nvPr/>
        </p:nvSpPr>
        <p:spPr>
          <a:xfrm>
            <a:off x="6675120" y="3886200"/>
            <a:ext cx="20116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676656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Director 협의</a:t>
            </a:r>
            <a:endParaRPr lang="en-US" sz="1000"/>
          </a:p>
        </p:txBody>
      </p:sp>
      <p:sp>
        <p:nvSpPr>
          <p:cNvPr id="71" name="Shape 69"/>
          <p:cNvSpPr/>
          <p:nvPr/>
        </p:nvSpPr>
        <p:spPr>
          <a:xfrm>
            <a:off x="457200" y="4251960"/>
            <a:ext cx="1463040" cy="365760"/>
          </a:xfrm>
          <a:prstGeom prst="rect">
            <a:avLst/>
          </a:prstGeom>
          <a:solidFill>
            <a:srgbClr val="F8F9F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/>
          <p:nvPr/>
        </p:nvSpPr>
        <p:spPr>
          <a:xfrm>
            <a:off x="548640" y="4251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Billing Dispute</a:t>
            </a:r>
            <a:endParaRPr lang="en-US" sz="1000"/>
          </a:p>
        </p:txBody>
      </p:sp>
      <p:sp>
        <p:nvSpPr>
          <p:cNvPr id="73" name="Shape 71"/>
          <p:cNvSpPr/>
          <p:nvPr/>
        </p:nvSpPr>
        <p:spPr>
          <a:xfrm>
            <a:off x="1920240" y="4251960"/>
            <a:ext cx="1645920" cy="365760"/>
          </a:xfrm>
          <a:prstGeom prst="rect">
            <a:avLst/>
          </a:prstGeom>
          <a:solidFill>
            <a:srgbClr val="F8F9F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/>
          <p:nvPr/>
        </p:nvSpPr>
        <p:spPr>
          <a:xfrm>
            <a:off x="2011680" y="4251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Working Days</a:t>
            </a:r>
            <a:endParaRPr lang="en-US" sz="1000"/>
          </a:p>
        </p:txBody>
      </p:sp>
      <p:sp>
        <p:nvSpPr>
          <p:cNvPr id="75" name="Shape 73"/>
          <p:cNvSpPr/>
          <p:nvPr/>
        </p:nvSpPr>
        <p:spPr>
          <a:xfrm>
            <a:off x="3566160" y="4251960"/>
            <a:ext cx="3108960" cy="365760"/>
          </a:xfrm>
          <a:prstGeom prst="rect">
            <a:avLst/>
          </a:prstGeom>
          <a:solidFill>
            <a:srgbClr val="F8F9F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/>
          <p:nvPr/>
        </p:nvSpPr>
        <p:spPr>
          <a:xfrm>
            <a:off x="3657600" y="4251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10 Working Days까지 협의</a:t>
            </a:r>
            <a:endParaRPr lang="en-US" sz="1000"/>
          </a:p>
        </p:txBody>
      </p:sp>
      <p:sp>
        <p:nvSpPr>
          <p:cNvPr id="77" name="Shape 75"/>
          <p:cNvSpPr/>
          <p:nvPr/>
        </p:nvSpPr>
        <p:spPr>
          <a:xfrm>
            <a:off x="6675120" y="4251960"/>
            <a:ext cx="2011680" cy="365760"/>
          </a:xfrm>
          <a:prstGeom prst="rect">
            <a:avLst/>
          </a:prstGeom>
          <a:solidFill>
            <a:srgbClr val="F8F9F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/>
          <p:cNvSpPr/>
          <p:nvPr/>
        </p:nvSpPr>
        <p:spPr>
          <a:xfrm>
            <a:off x="676656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Manager 협의</a:t>
            </a:r>
            <a:endParaRPr lang="en-US" sz="1000"/>
          </a:p>
        </p:txBody>
      </p:sp>
      <p:sp>
        <p:nvSpPr>
          <p:cNvPr id="79" name="Text 77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Sales 권한은 가이드라인이며, 최종 승인은 항상 OMH 본사 절차를 따릅니다.</a:t>
            </a:r>
            <a:endParaRPr lang="en-US"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연동 5단계 프로세스</a:t>
            </a:r>
            <a:endParaRPr lang="en-US" sz="220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SPEC·DEV Key → 스테이징 테스트 → 테스트 완료 → 라이브키 → 라이브</a:t>
            </a:r>
            <a:endParaRPr lang="en-US" sz="120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Global Sales Training | API 연동 프로세스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17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508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50876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05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2024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23774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SPEC · DEV 환경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DEV Key 제공</a:t>
            </a:r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개발팀→세일즈→고객사</a:t>
            </a:r>
            <a:endParaRPr lang="en-US" sz="90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4248" y="2171700"/>
            <a:ext cx="146304" cy="14630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148840" y="1371600"/>
            <a:ext cx="1508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2148840" y="1371600"/>
            <a:ext cx="150876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2148840" y="1371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05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480" y="192024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240280" y="23774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시나리오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스테이징 테스트</a:t>
            </a:r>
            <a:endParaRPr lang="en-US" sz="1100"/>
          </a:p>
        </p:txBody>
      </p:sp>
      <p:sp>
        <p:nvSpPr>
          <p:cNvPr id="19" name="Text 14"/>
          <p:cNvSpPr/>
          <p:nvPr/>
        </p:nvSpPr>
        <p:spPr>
          <a:xfrm>
            <a:off x="2240280" y="28803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IT ↔ OMH 개발팀</a:t>
            </a:r>
            <a:endParaRPr lang="en-US" sz="90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5888" y="2171700"/>
            <a:ext cx="146304" cy="146304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3840480" y="1371600"/>
            <a:ext cx="1508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6"/>
          <p:cNvSpPr/>
          <p:nvPr/>
        </p:nvSpPr>
        <p:spPr>
          <a:xfrm>
            <a:off x="3840480" y="1371600"/>
            <a:ext cx="150876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7"/>
          <p:cNvSpPr/>
          <p:nvPr/>
        </p:nvSpPr>
        <p:spPr>
          <a:xfrm>
            <a:off x="3840480" y="1371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05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0" y="1920240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931920" y="23774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완료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(Result + Log 검증)</a:t>
            </a:r>
            <a:endParaRPr lang="en-US" sz="1100"/>
          </a:p>
        </p:txBody>
      </p:sp>
      <p:sp>
        <p:nvSpPr>
          <p:cNvPr id="26" name="Text 19"/>
          <p:cNvSpPr/>
          <p:nvPr/>
        </p:nvSpPr>
        <p:spPr>
          <a:xfrm>
            <a:off x="3931920" y="28803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→ OMH 개발팀</a:t>
            </a:r>
            <a:endParaRPr lang="en-US" sz="90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528" y="2171700"/>
            <a:ext cx="146304" cy="146304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5532120" y="1371600"/>
            <a:ext cx="1508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1"/>
          <p:cNvSpPr/>
          <p:nvPr/>
        </p:nvSpPr>
        <p:spPr>
          <a:xfrm>
            <a:off x="5532120" y="1371600"/>
            <a:ext cx="150876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2"/>
          <p:cNvSpPr/>
          <p:nvPr/>
        </p:nvSpPr>
        <p:spPr>
          <a:xfrm>
            <a:off x="5532120" y="1371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05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760" y="1920240"/>
            <a:ext cx="411480" cy="41148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623560" y="23774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Certification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(라이브키) 제공</a:t>
            </a:r>
            <a:endParaRPr lang="en-US" sz="1100"/>
          </a:p>
        </p:txBody>
      </p:sp>
      <p:sp>
        <p:nvSpPr>
          <p:cNvPr id="33" name="Text 24"/>
          <p:cNvSpPr/>
          <p:nvPr/>
        </p:nvSpPr>
        <p:spPr>
          <a:xfrm>
            <a:off x="5623560" y="28803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개발팀→세일즈→고객사</a:t>
            </a:r>
            <a:endParaRPr lang="en-US" sz="90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168" y="2171700"/>
            <a:ext cx="146304" cy="146304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7223760" y="1371600"/>
            <a:ext cx="1508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6"/>
          <p:cNvSpPr/>
          <p:nvPr/>
        </p:nvSpPr>
        <p:spPr>
          <a:xfrm>
            <a:off x="7223760" y="1371600"/>
            <a:ext cx="150876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27"/>
          <p:cNvSpPr/>
          <p:nvPr/>
        </p:nvSpPr>
        <p:spPr>
          <a:xfrm>
            <a:off x="7223760" y="1371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</a:t>
            </a:r>
            <a:endParaRPr lang="en-US" sz="105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0" y="1920240"/>
            <a:ext cx="411480" cy="41148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315200" y="23774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완료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(Go-Live)</a:t>
            </a:r>
            <a:endParaRPr lang="en-US" sz="1100"/>
          </a:p>
        </p:txBody>
      </p:sp>
      <p:sp>
        <p:nvSpPr>
          <p:cNvPr id="40" name="Text 29"/>
          <p:cNvSpPr/>
          <p:nvPr/>
        </p:nvSpPr>
        <p:spPr>
          <a:xfrm>
            <a:off x="7315200" y="28803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양측 공동 모니터링</a:t>
            </a:r>
            <a:endParaRPr lang="en-US" sz="900"/>
          </a:p>
        </p:txBody>
      </p:sp>
      <p:sp>
        <p:nvSpPr>
          <p:cNvPr id="41" name="Shape 30"/>
          <p:cNvSpPr/>
          <p:nvPr/>
        </p:nvSpPr>
        <p:spPr>
          <a:xfrm>
            <a:off x="457200" y="3520440"/>
            <a:ext cx="82296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1"/>
          <p:cNvSpPr/>
          <p:nvPr/>
        </p:nvSpPr>
        <p:spPr>
          <a:xfrm>
            <a:off x="457200" y="3520440"/>
            <a:ext cx="91440" cy="1143000"/>
          </a:xfrm>
          <a:prstGeom prst="rect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2"/>
          <p:cNvSpPr/>
          <p:nvPr/>
        </p:nvSpPr>
        <p:spPr>
          <a:xfrm>
            <a:off x="685800" y="3611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Sales가 절대 놓치면 안 되는 포인트</a:t>
            </a:r>
            <a:endParaRPr lang="en-US" sz="1150"/>
          </a:p>
        </p:txBody>
      </p:sp>
      <p:sp>
        <p:nvSpPr>
          <p:cNvPr id="44" name="Text 33"/>
          <p:cNvSpPr/>
          <p:nvPr/>
        </p:nvSpPr>
        <p:spPr>
          <a:xfrm>
            <a:off x="685800" y="38862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테스트 시나리오는 현재 3종(Normal / 3rd include / Package rate) — 1종 통합이 개선 과제</a:t>
            </a:r>
            <a:endParaRPr lang="en-US" sz="110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라이브키는 Cert Pass AND Deposit 입금, 두 조건 모두 충족 후에만 발급</a:t>
            </a:r>
            <a:endParaRPr lang="en-US" sz="110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1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기술 커뮤니케이션은 개발자 간 직접 소통이 원칙 — Sales는 일정·에스컬레이션 관리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800920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계약서 협상 단골 이슈 4선</a:t>
            </a:r>
            <a:endParaRPr lang="en-US" sz="220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고객사가 자주 제기하는 조항 + 대응법</a:t>
            </a:r>
            <a:endParaRPr lang="en-US" sz="120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Global Sales Training | API 연동 프로세스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17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82296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502920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700"/>
          </a:p>
        </p:txBody>
      </p:sp>
      <p:sp>
        <p:nvSpPr>
          <p:cNvPr id="10" name="Text 8"/>
          <p:cNvSpPr/>
          <p:nvPr/>
        </p:nvSpPr>
        <p:spPr>
          <a:xfrm>
            <a:off x="1097280" y="13533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예약가로 체크인이 안 되는 경우 어떻게 책임지나?</a:t>
            </a:r>
            <a:endParaRPr lang="en-US" sz="1150"/>
          </a:p>
        </p:txBody>
      </p:sp>
      <p:sp>
        <p:nvSpPr>
          <p:cNvPr id="11" name="Text 9"/>
          <p:cNvSpPr/>
          <p:nvPr/>
        </p:nvSpPr>
        <p:spPr>
          <a:xfrm>
            <a:off x="1097280" y="16276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</a:t>
            </a: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SLA에 구체적 처리 절차 명문화 — 재예약·환불·차액 보전 등 시나리오별 정의. 계약서 본문엔 'SLA에 따른다' 참조만.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57200" y="2139696"/>
            <a:ext cx="82296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2139696"/>
            <a:ext cx="502920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" y="2139696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700"/>
          </a:p>
        </p:txBody>
      </p:sp>
      <p:sp>
        <p:nvSpPr>
          <p:cNvPr id="15" name="Text 13"/>
          <p:cNvSpPr/>
          <p:nvPr/>
        </p:nvSpPr>
        <p:spPr>
          <a:xfrm>
            <a:off x="1097280" y="22128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Party B 권리·의무는 API에만 해당하나, 웹사이트에도 해당하나?</a:t>
            </a:r>
            <a:endParaRPr lang="en-US" sz="1150"/>
          </a:p>
        </p:txBody>
      </p:sp>
      <p:sp>
        <p:nvSpPr>
          <p:cNvPr id="16" name="Text 14"/>
          <p:cNvSpPr/>
          <p:nvPr/>
        </p:nvSpPr>
        <p:spPr>
          <a:xfrm>
            <a:off x="1097280" y="24871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</a:t>
            </a: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요청대로 API 송출 범위에 한정 가능. 단, 우리측 웹사이트는 제외한다는 점 명시 (Linkstay 케이스 적용).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457200" y="2999232"/>
            <a:ext cx="82296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2999232"/>
            <a:ext cx="502920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57200" y="299923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</a:t>
            </a:r>
            <a:endParaRPr lang="en-US" sz="1700"/>
          </a:p>
        </p:txBody>
      </p:sp>
      <p:sp>
        <p:nvSpPr>
          <p:cNvPr id="20" name="Text 18"/>
          <p:cNvSpPr/>
          <p:nvPr/>
        </p:nvSpPr>
        <p:spPr>
          <a:xfrm>
            <a:off x="1097280" y="307238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청구 분쟁 해결 5 working days로는 부족하다</a:t>
            </a:r>
            <a:endParaRPr lang="en-US" sz="1150"/>
          </a:p>
        </p:txBody>
      </p:sp>
      <p:sp>
        <p:nvSpPr>
          <p:cNvPr id="21" name="Text 19"/>
          <p:cNvSpPr/>
          <p:nvPr/>
        </p:nvSpPr>
        <p:spPr>
          <a:xfrm>
            <a:off x="1097280" y="3346704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</a:t>
            </a: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분쟁이 명시적으로 제기된 기간 동안 1% Penalty 면제 단서를 추가하는 방향으로 협상. 최대 10 working days까지 연장 가능.</a:t>
            </a:r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457200" y="3858768"/>
            <a:ext cx="82296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57200" y="3858768"/>
            <a:ext cx="502920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57200" y="3858768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</a:t>
            </a:r>
            <a:endParaRPr lang="en-US" sz="1700"/>
          </a:p>
        </p:txBody>
      </p:sp>
      <p:sp>
        <p:nvSpPr>
          <p:cNvPr id="25" name="Text 23"/>
          <p:cNvSpPr/>
          <p:nvPr/>
        </p:nvSpPr>
        <p:spPr>
          <a:xfrm>
            <a:off x="1097280" y="39319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1% Daily Payment Penalty가 과도하다</a:t>
            </a:r>
            <a:endParaRPr lang="en-US" sz="1150"/>
          </a:p>
        </p:txBody>
      </p:sp>
      <p:sp>
        <p:nvSpPr>
          <p:cNvPr id="26" name="Text 24"/>
          <p:cNvSpPr/>
          <p:nvPr/>
        </p:nvSpPr>
        <p:spPr>
          <a:xfrm>
            <a:off x="1097280" y="42062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</a:t>
            </a:r>
            <a:r>
              <a:rPr lang="en-US" sz="105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분쟁 기간 면제 단서 + Cap (예: 누적 30%) 조항 협상 가능. 기본률 인하는 양보 불가.</a:t>
            </a:r>
            <a:endParaRPr lang="en-US" sz="10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 체크리스트</a:t>
            </a:r>
            <a:endParaRPr lang="en-US" sz="220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'Done' 기준 점검표</a:t>
            </a:r>
            <a:endParaRPr lang="en-US" sz="120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Global Sales Training | API 연동 프로세스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17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— 거래처 미팅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457200" y="1408176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9224" y="1371600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발급 + 임시 PW 송부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457200" y="1636776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9224" y="1600200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Top-Selling 리스트 송부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457200" y="1865376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9224" y="1828800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미팅 후 Follow-up 일정 등록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457200" y="21031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 — NDA 발송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57200" y="2340864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9224" y="2304288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비밀보장 NDA 송부 및 회신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57200" y="2569464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9224" y="2532888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5대 적합성 질문 답변 확보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457200" y="280720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 — 거래조건 협의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457200" y="3044952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49224" y="3008376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Deposit 합의 + 대표님 승인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457200" y="3273552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49224" y="3236976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Currency·Settlement 확정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457200" y="35112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 — 나이스 &amp; 계약서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9224" y="3712464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오마이 나이스 AI 심사 통과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457200" y="3977640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49224" y="3941064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조항별 검토 + SLA 별도 문서화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457200" y="4206240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49224" y="4169664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4대 단골 이슈 대응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4663440" y="11704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P5 — SPEC·DEV Key</a:t>
            </a:r>
            <a:endParaRPr lang="en-US" sz="1000"/>
          </a:p>
        </p:txBody>
      </p:sp>
      <p:sp>
        <p:nvSpPr>
          <p:cNvPr id="32" name="Shape 30"/>
          <p:cNvSpPr/>
          <p:nvPr/>
        </p:nvSpPr>
        <p:spPr>
          <a:xfrm>
            <a:off x="4663440" y="1408176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855464" y="1371600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개발팀에 DEV Key 발급 요청</a:t>
            </a:r>
            <a:endParaRPr lang="en-US" sz="1000"/>
          </a:p>
        </p:txBody>
      </p:sp>
      <p:sp>
        <p:nvSpPr>
          <p:cNvPr id="34" name="Shape 32"/>
          <p:cNvSpPr/>
          <p:nvPr/>
        </p:nvSpPr>
        <p:spPr>
          <a:xfrm>
            <a:off x="4663440" y="1636776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855464" y="1600200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SPEC Site·DEV URL·DEV Key 전달</a:t>
            </a:r>
            <a:endParaRPr lang="en-US" sz="1000"/>
          </a:p>
        </p:txBody>
      </p:sp>
      <p:sp>
        <p:nvSpPr>
          <p:cNvPr id="36" name="Shape 34"/>
          <p:cNvSpPr/>
          <p:nvPr/>
        </p:nvSpPr>
        <p:spPr>
          <a:xfrm>
            <a:off x="4663440" y="1865376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855464" y="1828800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Teams 채널 셋업 (IT ↔ IT)</a:t>
            </a:r>
            <a:endParaRPr lang="en-US" sz="1000"/>
          </a:p>
        </p:txBody>
      </p:sp>
      <p:sp>
        <p:nvSpPr>
          <p:cNvPr id="38" name="Text 36"/>
          <p:cNvSpPr/>
          <p:nvPr/>
        </p:nvSpPr>
        <p:spPr>
          <a:xfrm>
            <a:off x="4663440" y="21031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P6 — 스테이징 테스트</a:t>
            </a:r>
            <a:endParaRPr lang="en-US" sz="1000"/>
          </a:p>
        </p:txBody>
      </p:sp>
      <p:sp>
        <p:nvSpPr>
          <p:cNvPr id="39" name="Shape 37"/>
          <p:cNvSpPr/>
          <p:nvPr/>
        </p:nvSpPr>
        <p:spPr>
          <a:xfrm>
            <a:off x="4663440" y="2340864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4855464" y="2304288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Cert 문서 + Static 정보 공유</a:t>
            </a:r>
            <a:endParaRPr lang="en-US" sz="1000"/>
          </a:p>
        </p:txBody>
      </p:sp>
      <p:sp>
        <p:nvSpPr>
          <p:cNvPr id="41" name="Shape 39"/>
          <p:cNvSpPr/>
          <p:nvPr/>
        </p:nvSpPr>
        <p:spPr>
          <a:xfrm>
            <a:off x="4663440" y="2569464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4855464" y="2532888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기술담당자·접속 IP 확보</a:t>
            </a:r>
            <a:endParaRPr lang="en-US" sz="1000"/>
          </a:p>
        </p:txBody>
      </p:sp>
      <p:sp>
        <p:nvSpPr>
          <p:cNvPr id="43" name="Shape 41"/>
          <p:cNvSpPr/>
          <p:nvPr/>
        </p:nvSpPr>
        <p:spPr>
          <a:xfrm>
            <a:off x="4663440" y="2798064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4855464" y="2761488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진행 모니터링</a:t>
            </a:r>
            <a:endParaRPr lang="en-US" sz="1000"/>
          </a:p>
        </p:txBody>
      </p:sp>
      <p:sp>
        <p:nvSpPr>
          <p:cNvPr id="45" name="Text 43"/>
          <p:cNvSpPr/>
          <p:nvPr/>
        </p:nvSpPr>
        <p:spPr>
          <a:xfrm>
            <a:off x="4663440" y="303580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P7 — 테스트 완료/입금</a:t>
            </a:r>
            <a:endParaRPr lang="en-US" sz="1000"/>
          </a:p>
        </p:txBody>
      </p:sp>
      <p:sp>
        <p:nvSpPr>
          <p:cNvPr id="46" name="Shape 44"/>
          <p:cNvSpPr/>
          <p:nvPr/>
        </p:nvSpPr>
        <p:spPr>
          <a:xfrm>
            <a:off x="4663440" y="3273552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4855464" y="3236976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 + Log 개발팀 검증</a:t>
            </a:r>
            <a:endParaRPr lang="en-US" sz="1000"/>
          </a:p>
        </p:txBody>
      </p:sp>
      <p:sp>
        <p:nvSpPr>
          <p:cNvPr id="48" name="Shape 46"/>
          <p:cNvSpPr/>
          <p:nvPr/>
        </p:nvSpPr>
        <p:spPr>
          <a:xfrm>
            <a:off x="4663440" y="3502152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4855464" y="3465576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Pass 판정 확인</a:t>
            </a:r>
            <a:endParaRPr lang="en-US" sz="1000"/>
          </a:p>
        </p:txBody>
      </p:sp>
      <p:sp>
        <p:nvSpPr>
          <p:cNvPr id="50" name="Shape 48"/>
          <p:cNvSpPr/>
          <p:nvPr/>
        </p:nvSpPr>
        <p:spPr>
          <a:xfrm>
            <a:off x="4663440" y="3730752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4855464" y="3694176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Deposit 입금 + 영수증 수령</a:t>
            </a:r>
            <a:endParaRPr lang="en-US" sz="1000"/>
          </a:p>
        </p:txBody>
      </p:sp>
      <p:sp>
        <p:nvSpPr>
          <p:cNvPr id="52" name="Text 50"/>
          <p:cNvSpPr/>
          <p:nvPr/>
        </p:nvSpPr>
        <p:spPr>
          <a:xfrm>
            <a:off x="4663440" y="39684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P8·9 — 라이브키/Go-Live</a:t>
            </a:r>
            <a:endParaRPr lang="en-US" sz="1000"/>
          </a:p>
        </p:txBody>
      </p:sp>
      <p:sp>
        <p:nvSpPr>
          <p:cNvPr id="53" name="Shape 51"/>
          <p:cNvSpPr/>
          <p:nvPr/>
        </p:nvSpPr>
        <p:spPr>
          <a:xfrm>
            <a:off x="4663440" y="4206240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4855464" y="4169664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라이브키 전달 + Live Test 부킹</a:t>
            </a:r>
            <a:endParaRPr lang="en-US" sz="1000"/>
          </a:p>
        </p:txBody>
      </p:sp>
      <p:sp>
        <p:nvSpPr>
          <p:cNvPr id="55" name="Shape 53"/>
          <p:cNvSpPr/>
          <p:nvPr/>
        </p:nvSpPr>
        <p:spPr>
          <a:xfrm>
            <a:off x="4663440" y="4434840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4855464" y="4398264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Channel Info 양측 교환</a:t>
            </a:r>
            <a:endParaRPr lang="en-US" sz="1000"/>
          </a:p>
        </p:txBody>
      </p:sp>
      <p:sp>
        <p:nvSpPr>
          <p:cNvPr id="57" name="Shape 55"/>
          <p:cNvSpPr/>
          <p:nvPr/>
        </p:nvSpPr>
        <p:spPr>
          <a:xfrm>
            <a:off x="4663440" y="4663440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4855464" y="4626864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Go-Live D-3 사전 통보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9146184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400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TAKEAWAYS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기억해 둘 5가지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097280" cy="0"/>
          </a:xfrm>
          <a:prstGeom prst="line">
            <a:avLst/>
          </a:prstGeom>
          <a:noFill/>
          <a:ln w="25400">
            <a:solidFill>
              <a:srgbClr val="F9A8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800"/>
          </a:p>
        </p:txBody>
      </p:sp>
      <p:sp>
        <p:nvSpPr>
          <p:cNvPr id="6" name="Text 4"/>
          <p:cNvSpPr/>
          <p:nvPr/>
        </p:nvSpPr>
        <p:spPr>
          <a:xfrm>
            <a:off x="1280160" y="16916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 = PM 모드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1280160" y="19842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Sales는 9단계 전 과정의 프로젝트 매니저. 단, 기술 구간은 고객사 IT ↔ OMH 개발팀 직접 소통이 원칙이며 Sales는 일정·에스컬레이션을 관리합니다.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457200" y="225856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800"/>
          </a:p>
        </p:txBody>
      </p:sp>
      <p:sp>
        <p:nvSpPr>
          <p:cNvPr id="9" name="Text 7"/>
          <p:cNvSpPr/>
          <p:nvPr/>
        </p:nvSpPr>
        <p:spPr>
          <a:xfrm>
            <a:off x="1280160" y="22585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표준은 USD 30K, 협상 하한은 USD 10K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1280160" y="25511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1 고객 한정으로 Deposit USD 10K까지 인하 가능. Credit Ratio 1:1과 Settlement 주기는 양보 불가.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457200" y="282549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800"/>
          </a:p>
        </p:txBody>
      </p:sp>
      <p:sp>
        <p:nvSpPr>
          <p:cNvPr id="12" name="Text 10"/>
          <p:cNvSpPr/>
          <p:nvPr/>
        </p:nvSpPr>
        <p:spPr>
          <a:xfrm>
            <a:off x="1280160" y="282549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시나리오는 1종으로 통합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1280160" y="31181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Normal / 3rd include / Package rate 3종 분리 운영. 공통 TEST 1~4 + 옵션 케이스 1개 구조로 단일 문서 통합이 가능합니다.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457200" y="339242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800"/>
          </a:p>
        </p:txBody>
      </p:sp>
      <p:sp>
        <p:nvSpPr>
          <p:cNvPr id="15" name="Text 13"/>
          <p:cNvSpPr/>
          <p:nvPr/>
        </p:nvSpPr>
        <p:spPr>
          <a:xfrm>
            <a:off x="1280160" y="339242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 조건 — Cert Pass + Deposit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1280160" y="3685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라이브키는 두 조건 모두 충족 시에만 발급. 전달 경로는 개발팀 → 세일즈 → 고객사를 반드시 준수.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457200" y="395935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>
                <a:solidFill>
                  <a:srgbClr val="F9A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800"/>
          </a:p>
        </p:txBody>
      </p:sp>
      <p:sp>
        <p:nvSpPr>
          <p:cNvPr id="18" name="Text 16"/>
          <p:cNvSpPr/>
          <p:nvPr/>
        </p:nvSpPr>
        <p:spPr>
          <a:xfrm>
            <a:off x="1280160" y="39593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Follow-up은 포기하지 않는다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1280160" y="42519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Linkstay는 첫 컨택 후 약 3개월 침묵 후 재개. 정기적 follow-up이 결국 Deal을 만듭니다.</a:t>
            </a:r>
            <a:endParaRPr lang="en-US" sz="105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OMH Global Sales &amp; Marketing | API Integration Training | May 2026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389469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F19D0D2-7A2D-4435-A0B3-85F235E9012D}">
  <we:reference id="11d7cf85-ae5a-43b8-bc58-1e1a151cce24" version="1.0.0.1" store="excatalog" storeType="excatalog"/>
  <we:alternateReferences>
    <we:reference id="WA200010725" version="1.0.0.1" store="ko-kr" storeType="omex"/>
  </we:alternateReferences>
  <we:properties>
    <we:property name="claude.fileId" value="&quot;f879cd2c-4cbf-4779-b10e-38bc29de1b74&quot;"/>
  </we:properties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0" runtimeId="Taskpane.Url"/>
    </a:ext>
  </we:extLst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2514</Words>
  <Application>Microsoft Office PowerPoint</Application>
  <PresentationFormat>화면 슬라이드 쇼(16:9)</PresentationFormat>
  <Paragraphs>474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맑은 고딕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연동 프로세스 가이드 (Sales 교육용)</dc:title>
  <dc:subject>PptxGenJS Presentation</dc:subject>
  <dc:creator>OMH Global Sales &amp; Marketing</dc:creator>
  <cp:lastModifiedBy>Park Changbae (Aiden)</cp:lastModifiedBy>
  <cp:revision>43</cp:revision>
  <dcterms:created xsi:type="dcterms:W3CDTF">2026-05-11T03:07:40Z</dcterms:created>
  <dcterms:modified xsi:type="dcterms:W3CDTF">2026-07-28T02:24:49Z</dcterms:modified>
</cp:coreProperties>
</file>