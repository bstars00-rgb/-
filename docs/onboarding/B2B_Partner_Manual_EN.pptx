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29" r:id="rId5"/>
    <p:sldId id="334" r:id="rId6"/>
    <p:sldId id="335" r:id="rId7"/>
    <p:sldId id="257" r:id="rId8"/>
    <p:sldId id="336" r:id="rId9"/>
    <p:sldId id="260" r:id="rId10"/>
    <p:sldId id="258" r:id="rId11"/>
    <p:sldId id="261" r:id="rId12"/>
    <p:sldId id="337" r:id="rId13"/>
    <p:sldId id="262" r:id="rId14"/>
    <p:sldId id="263" r:id="rId15"/>
    <p:sldId id="264" r:id="rId16"/>
    <p:sldId id="265" r:id="rId17"/>
    <p:sldId id="266" r:id="rId18"/>
    <p:sldId id="338" r:id="rId19"/>
    <p:sldId id="339" r:id="rId20"/>
    <p:sldId id="341" r:id="rId21"/>
    <p:sldId id="342" r:id="rId22"/>
    <p:sldId id="340" r:id="rId23"/>
    <p:sldId id="267" r:id="rId24"/>
    <p:sldId id="268" r:id="rId25"/>
    <p:sldId id="333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628CB-C7A7-AFE7-6C0F-19A910882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8E2F24-7220-A5ED-815C-574993F16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0CCEEE-7B31-2BBC-EB6B-211A0AADA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5F1ED-9CD9-C127-8B36-CDB8C76D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B72E51-09A6-B8D3-F077-787B5457F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40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C2818-2FBD-8199-4C9D-01F5E78E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88899F-B8E1-83BD-3463-DF03E9347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113545-673A-D738-AB03-3D03F598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E5D804-08F8-DC5D-C230-EC2CA326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A9CA44-B349-AEDC-C5D3-94A7195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53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CF9BB-1413-CBC9-ACDD-3BB0F7726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84924F-AF9E-DF17-3770-61E545A60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7F2156-CACC-4F7D-DCE8-6D79883F2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ACE4A7-8064-20D7-6E27-48FC59059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B4A07-FB0D-B567-10B1-0D70893A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41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2FAF7-304D-75A6-060F-34755587F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7F2D2-DC78-42D0-3363-81442D218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1EB2E2-D6DA-4B03-62C7-0B0BC3445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75D9BA-02C5-0BAD-BB36-8E9AAD90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DBECE8-BD0A-E6AA-4B6A-A098426EE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3A8A8F-52D0-0C08-97CD-E6FBA6E4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76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D799F-1D08-5B74-DB2C-0368C15E8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F867FB-5936-A604-A40E-2038156F4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6EF67C-656D-DC0A-9737-38BDD3D42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F7FF11-0BA9-D177-B3C7-65014A6E6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A41088-BB59-8C16-4315-4E8F0835E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8FC833-23E4-B49A-BC7A-B5A653D4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E79709-93AC-5D68-21A7-A469BC5E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99B8F0-3E2A-7450-B1DB-D29CDB9B6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0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2C6BB5-5987-D2D4-E57A-B1F38659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C3D804-EFDA-3660-CE01-1FBD975C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B3D883-9D3F-E8B1-8ADE-72F698CC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96D4B5-9026-8FDF-CD7A-CABBC328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140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451F00-1DA0-4099-9F13-93216271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F25CA7-E40C-0711-2D6E-304C6B22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D17D01-010A-F089-3DE7-BA1E6925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74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F74E0-E7F3-89C2-FEAD-F104B145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B189D3-41A7-4529-4262-C189D12BB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F8C511-F515-D69C-206F-01E3C0FC4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1E3878-D9DE-2DB6-2766-D26DC625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E21CCD-9BD2-16D9-2060-BF5924C89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C64A6E-4A84-5491-69CD-B4785B76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80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60FE7-D39B-A583-6B72-2CD7DA534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FB445D-8A09-1C5F-2A17-422F29CF1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2DE5E3-6C97-6DB4-1CF0-1F93B08E1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009A39-78B0-01E0-AA1D-909B5480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8FAFF-61A1-7B2D-C005-786433A0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FC2C4C-26F8-EC97-5721-3E91B89B8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42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3E7B1-51D4-8251-57B1-E3A24623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40F1AD-7EC6-D241-7F9D-E6CD26767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E5AD44-3274-A02A-6B0E-F493E975C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D01B83-FD58-9B4C-1AD1-8405A99D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0B654F-DAF4-03BC-6D09-52BB88E5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26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4A5E59-724E-9DE2-5005-A4A388B4B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9993BE-DBC6-C170-1AF8-CE21A50F3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AE9FC1-01CC-E375-B4F4-2CEC5F04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8EBD30-72C8-475C-1B02-7A883234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A7269-95F9-43D0-A433-3972FFDE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54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DDF0E3-C755-F186-62CA-FC8B088F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93CD68-4C8D-44E1-09A6-1EAD4EAC4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78E7F2-19BC-3008-5CF2-A8C1C7525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D2E26-2491-4D78-85EE-10550C6C66A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D969C6-3637-B609-1D4A-6A05FCB2D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E997E7-2C71-9C8A-1B4E-DAF9ECA2A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765BF-517E-4060-BBC0-B844B9E4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25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hmyhotel.biz/logi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54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pic>
        <p:nvPicPr>
          <p:cNvPr id="9" name="그림 8" descr="그래픽, 스크린샷, 원, 그래픽 디자인이(가) 표시된 사진&#10;&#10;자동 생성된 설명">
            <a:extLst>
              <a:ext uri="{FF2B5EF4-FFF2-40B4-BE49-F238E27FC236}">
                <a16:creationId xmlns:a16="http://schemas.microsoft.com/office/drawing/2014/main" id="{731C3701-2B1D-0A18-D7B1-074F911B7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860" y="2934549"/>
            <a:ext cx="2624280" cy="2624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A5B242-AB35-6987-7AB5-3132047FF61E}"/>
              </a:ext>
            </a:extLst>
          </p:cNvPr>
          <p:cNvSpPr txBox="1"/>
          <p:nvPr/>
        </p:nvSpPr>
        <p:spPr>
          <a:xfrm>
            <a:off x="4992988" y="6381405"/>
            <a:ext cx="2420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www.ohmyhotel.biz</a:t>
            </a:r>
            <a:endParaRPr lang="ko-KR" altLang="en-US">
              <a:solidFill>
                <a:schemeClr val="bg1"/>
              </a:solidFill>
              <a:latin typeface="Meiryo" panose="020B060403050404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C620A-3C7E-5C00-CDB9-7CD58F450945}"/>
              </a:ext>
            </a:extLst>
          </p:cNvPr>
          <p:cNvSpPr txBox="1"/>
          <p:nvPr/>
        </p:nvSpPr>
        <p:spPr>
          <a:xfrm>
            <a:off x="1068104" y="1292082"/>
            <a:ext cx="10052752" cy="9233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5400" b="1" dirty="0" err="1">
                <a:solidFill>
                  <a:schemeClr val="accent2"/>
                </a:solidFill>
                <a:latin typeface="나눔고딕"/>
                <a:ea typeface="나눔고딕"/>
              </a:rPr>
              <a:t>OHMYHOTEL.Biz</a:t>
            </a:r>
            <a:r>
              <a:rPr lang="en-US" altLang="ko-KR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 Page Manual</a:t>
            </a:r>
          </a:p>
        </p:txBody>
      </p:sp>
    </p:spTree>
    <p:extLst>
      <p:ext uri="{BB962C8B-B14F-4D97-AF65-F5344CB8AC3E}">
        <p14:creationId xmlns:p14="http://schemas.microsoft.com/office/powerpoint/2010/main" val="3978917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BA4C5F-EBEB-661E-1189-DA9C1FE2D496}"/>
              </a:ext>
            </a:extLst>
          </p:cNvPr>
          <p:cNvSpPr txBox="1"/>
          <p:nvPr/>
        </p:nvSpPr>
        <p:spPr>
          <a:xfrm>
            <a:off x="2730911" y="2137428"/>
            <a:ext cx="6730177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6600" b="1" dirty="0" err="1">
                <a:solidFill>
                  <a:schemeClr val="accent2"/>
                </a:solidFill>
                <a:latin typeface="Meiryo"/>
                <a:ea typeface="Meiryo"/>
              </a:rPr>
              <a:t>Ohmyhotel.Biz</a:t>
            </a:r>
            <a:endParaRPr lang="ko-KR" altLang="en-US" sz="6600" b="1" dirty="0" err="1">
              <a:solidFill>
                <a:schemeClr val="accent2"/>
              </a:solidFill>
              <a:latin typeface="Meiryo" panose="020B060403050404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1B3F4-5E47-0019-BF1C-1D191A7D953B}"/>
              </a:ext>
            </a:extLst>
          </p:cNvPr>
          <p:cNvSpPr txBox="1"/>
          <p:nvPr/>
        </p:nvSpPr>
        <p:spPr>
          <a:xfrm>
            <a:off x="4717261" y="3612576"/>
            <a:ext cx="2757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Log In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861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1B350FC-27F3-165F-A528-C94624EC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479" y="1078913"/>
            <a:ext cx="4819650" cy="534352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1202065-3847-E9CD-6351-F6CB5AD2BDA8}"/>
              </a:ext>
            </a:extLst>
          </p:cNvPr>
          <p:cNvSpPr/>
          <p:nvPr/>
        </p:nvSpPr>
        <p:spPr>
          <a:xfrm>
            <a:off x="5273963" y="1326879"/>
            <a:ext cx="1099128" cy="474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AED1C8-0AB2-EC4A-3143-C4DA38AF7315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A05359-CB7E-C29E-1A08-709767DA28CE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77E4AF-5E3F-E4C7-D782-3314EC5DB913}"/>
              </a:ext>
            </a:extLst>
          </p:cNvPr>
          <p:cNvSpPr txBox="1"/>
          <p:nvPr/>
        </p:nvSpPr>
        <p:spPr>
          <a:xfrm>
            <a:off x="8984608" y="2600110"/>
            <a:ext cx="3238151" cy="25427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200" dirty="0" err="1">
                <a:ea typeface="나눔고딕"/>
              </a:rPr>
              <a:t>Ohmyhotel.Biz</a:t>
            </a:r>
            <a:r>
              <a:rPr lang="en-US" altLang="ko-KR" sz="1200" dirty="0">
                <a:ea typeface="나눔고딕"/>
              </a:rPr>
              <a:t> URL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ea typeface="나눔고딕"/>
              </a:rPr>
              <a:t>- </a:t>
            </a:r>
            <a:r>
              <a:rPr lang="en-US" altLang="ko-KR" sz="1200" dirty="0">
                <a:ea typeface="나눔고딕"/>
                <a:hlinkClick r:id="rId3"/>
              </a:rPr>
              <a:t>https://ohmyhotel.biz/login</a:t>
            </a:r>
            <a:endParaRPr lang="en-US" altLang="ko-KR" sz="1200" dirty="0">
              <a:ea typeface="나눔고딕"/>
            </a:endParaRPr>
          </a:p>
          <a:p>
            <a:pPr>
              <a:lnSpc>
                <a:spcPts val="1600"/>
              </a:lnSpc>
            </a:pPr>
            <a:endParaRPr lang="en-US" altLang="ko-KR" sz="1200" dirty="0">
              <a:ea typeface="나눔고딕" panose="020D0604000000000000" pitchFamily="50" charset="-127"/>
            </a:endParaRPr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Select language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ko-KR" sz="1200" dirty="0"/>
              <a:t>Log in after entering account and password</a:t>
            </a:r>
          </a:p>
          <a:p>
            <a:pPr marL="228600" indent="-228600">
              <a:lnSpc>
                <a:spcPts val="1600"/>
              </a:lnSpc>
              <a:buAutoNum type="arabicPeriod"/>
            </a:pPr>
            <a:endParaRPr lang="en-US" altLang="ko-KR" sz="1200" dirty="0"/>
          </a:p>
          <a:p>
            <a:pPr>
              <a:lnSpc>
                <a:spcPts val="1600"/>
              </a:lnSpc>
            </a:pPr>
            <a:r>
              <a:rPr lang="en-US" altLang="zh-CN" sz="1200" dirty="0"/>
              <a:t>If you have not signed in your company    account yet, please registered by pressing  the </a:t>
            </a:r>
            <a:r>
              <a:rPr lang="ko-KR" altLang="en-US" sz="1200" dirty="0"/>
              <a:t>① </a:t>
            </a:r>
            <a:r>
              <a:rPr lang="en-US" altLang="ko-KR" sz="1200" dirty="0"/>
              <a:t>key on the left image.</a:t>
            </a:r>
          </a:p>
          <a:p>
            <a:pPr>
              <a:lnSpc>
                <a:spcPts val="1600"/>
              </a:lnSpc>
            </a:pPr>
            <a:r>
              <a:rPr lang="en-US" altLang="ko-KR" sz="1200" dirty="0"/>
              <a:t>※ </a:t>
            </a:r>
            <a:r>
              <a:rPr lang="en-US" altLang="zh-CN" sz="1200" dirty="0"/>
              <a:t>If you want to add Operation(Staff)       account, please let us know.</a:t>
            </a:r>
            <a:endParaRPr lang="en-US" altLang="ko-KR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D6264-D408-B0F5-C70E-C3AE3C126B33}"/>
              </a:ext>
            </a:extLst>
          </p:cNvPr>
          <p:cNvSpPr txBox="1"/>
          <p:nvPr/>
        </p:nvSpPr>
        <p:spPr>
          <a:xfrm>
            <a:off x="129073" y="57198"/>
            <a:ext cx="21178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latin typeface="+mj-lt"/>
                <a:ea typeface="+mj-ea"/>
              </a:rPr>
              <a:t>Seller</a:t>
            </a:r>
            <a:r>
              <a:rPr lang="ko-KR" altLang="en-US" sz="2200" b="1" dirty="0">
                <a:latin typeface="+mj-lt"/>
                <a:ea typeface="+mj-ea"/>
              </a:rPr>
              <a:t> </a:t>
            </a:r>
            <a:r>
              <a:rPr lang="en-US" altLang="ko-KR" sz="2200" b="1" dirty="0">
                <a:latin typeface="+mj-lt"/>
                <a:ea typeface="+mj-ea"/>
              </a:rPr>
              <a:t>– Log</a:t>
            </a:r>
            <a:r>
              <a:rPr lang="zh-CN" altLang="en-US" sz="2200" b="1" dirty="0">
                <a:latin typeface="+mj-lt"/>
                <a:ea typeface="+mj-ea"/>
              </a:rPr>
              <a:t> </a:t>
            </a:r>
            <a:r>
              <a:rPr lang="en-US" altLang="zh-CN" sz="2200" b="1" dirty="0">
                <a:latin typeface="+mj-lt"/>
                <a:ea typeface="+mj-ea"/>
              </a:rPr>
              <a:t>In</a:t>
            </a:r>
            <a:endParaRPr lang="ko-KR" altLang="en-US" sz="2200" b="1" dirty="0">
              <a:latin typeface="+mj-lt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38AF5F-1130-CB83-BBDD-A6D5F932BC66}"/>
              </a:ext>
            </a:extLst>
          </p:cNvPr>
          <p:cNvSpPr/>
          <p:nvPr/>
        </p:nvSpPr>
        <p:spPr>
          <a:xfrm>
            <a:off x="3034145" y="5304875"/>
            <a:ext cx="1260764" cy="2554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D5E049E-6476-DEFF-25BC-1F7BC78029BA}"/>
              </a:ext>
            </a:extLst>
          </p:cNvPr>
          <p:cNvSpPr/>
          <p:nvPr/>
        </p:nvSpPr>
        <p:spPr>
          <a:xfrm>
            <a:off x="2748898" y="4991919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38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텍스트이(가) 표시된 사진&#10;&#10;자동 생성된 설명">
            <a:extLst>
              <a:ext uri="{FF2B5EF4-FFF2-40B4-BE49-F238E27FC236}">
                <a16:creationId xmlns:a16="http://schemas.microsoft.com/office/drawing/2014/main" id="{CF5F103B-64DC-1989-3F78-ACBB8C9DF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0" y="2145527"/>
            <a:ext cx="8789408" cy="256694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1202065-3847-E9CD-6351-F6CB5AD2BDA8}"/>
              </a:ext>
            </a:extLst>
          </p:cNvPr>
          <p:cNvSpPr/>
          <p:nvPr/>
        </p:nvSpPr>
        <p:spPr>
          <a:xfrm>
            <a:off x="1389867" y="3750676"/>
            <a:ext cx="7270638" cy="2458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AED1C8-0AB2-EC4A-3143-C4DA38AF7315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A05359-CB7E-C29E-1A08-709767DA28CE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77E4AF-5E3F-E4C7-D782-3314EC5DB913}"/>
              </a:ext>
            </a:extLst>
          </p:cNvPr>
          <p:cNvSpPr txBox="1"/>
          <p:nvPr/>
        </p:nvSpPr>
        <p:spPr>
          <a:xfrm>
            <a:off x="8984608" y="614292"/>
            <a:ext cx="3238151" cy="486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200" dirty="0">
                <a:ea typeface="나눔고딕" panose="020D0604000000000000" pitchFamily="50" charset="-127"/>
              </a:rPr>
              <a:t>1. Menu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Booking Date </a:t>
            </a:r>
            <a:r>
              <a:rPr lang="en-US" altLang="ko-KR" sz="1200" dirty="0"/>
              <a:t>ex) 2023-06-30 11:16:53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OMH Booking Code </a:t>
            </a:r>
          </a:p>
          <a:p>
            <a:pPr>
              <a:lnSpc>
                <a:spcPts val="1700"/>
              </a:lnSpc>
            </a:pPr>
            <a:r>
              <a:rPr lang="en-US" altLang="ko-KR" sz="1200" dirty="0"/>
              <a:t>   ex) 230630MQ33P01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Booking Status</a:t>
            </a:r>
            <a:endParaRPr lang="en-US" altLang="ko-KR" sz="1200" dirty="0"/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Hotel Name</a:t>
            </a:r>
            <a:br>
              <a:rPr lang="en-US" altLang="ko-KR" sz="1200" dirty="0"/>
            </a:br>
            <a:r>
              <a:rPr lang="en-US" altLang="ko-KR" sz="1200" dirty="0"/>
              <a:t>ex) Hotel WBF </a:t>
            </a:r>
            <a:r>
              <a:rPr lang="en-US" altLang="ko-KR" sz="1200" dirty="0" err="1"/>
              <a:t>Fourstay</a:t>
            </a:r>
            <a:r>
              <a:rPr lang="en-US" altLang="ko-KR" sz="1200" dirty="0"/>
              <a:t> Sapporo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Client Cancel D/L (Deadline) </a:t>
            </a:r>
            <a:r>
              <a:rPr lang="en-US" altLang="ko-KR" sz="1200" dirty="0"/>
              <a:t>ex) 2023-07-08 17:00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C/In Date &amp; </a:t>
            </a:r>
            <a:r>
              <a:rPr lang="en-US" altLang="ko-KR" sz="1200" b="1" dirty="0" err="1"/>
              <a:t>Nts</a:t>
            </a:r>
            <a:r>
              <a:rPr lang="en-US" altLang="ko-KR" sz="1200" b="1" dirty="0"/>
              <a:t> (Nights) </a:t>
            </a:r>
            <a:r>
              <a:rPr lang="en-US" altLang="ko-KR" sz="1200" dirty="0"/>
              <a:t>ex) 2023-07-13[3]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Room Type &amp; Count</a:t>
            </a:r>
            <a:br>
              <a:rPr lang="en-US" altLang="ko-KR" sz="1200" dirty="0"/>
            </a:br>
            <a:r>
              <a:rPr lang="en-US" altLang="ko-KR" sz="1200" dirty="0"/>
              <a:t>ex) Standard Twin Non Smoking [1]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1st Traveler Name </a:t>
            </a:r>
            <a:r>
              <a:rPr lang="en-US" altLang="ko-KR" sz="1200" dirty="0"/>
              <a:t>ex) HONG/GILDONG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 err="1"/>
              <a:t>B.Curr</a:t>
            </a:r>
            <a:r>
              <a:rPr lang="en-US" altLang="ko-KR" sz="1200" b="1" dirty="0"/>
              <a:t> </a:t>
            </a:r>
            <a:r>
              <a:rPr lang="en-US" altLang="ko-KR" sz="1200" dirty="0"/>
              <a:t>: Bank Currency, ex) KRW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 err="1"/>
              <a:t>B.Sum</a:t>
            </a:r>
            <a:r>
              <a:rPr lang="en-US" altLang="ko-KR" sz="1200" b="1" dirty="0"/>
              <a:t> Amt </a:t>
            </a:r>
            <a:r>
              <a:rPr lang="en-US" altLang="ko-KR" sz="1200" dirty="0"/>
              <a:t>: </a:t>
            </a:r>
            <a:r>
              <a:rPr lang="en-US" altLang="zh-CN" sz="1200" dirty="0"/>
              <a:t>Bank Summary Amount</a:t>
            </a:r>
            <a:br>
              <a:rPr lang="en-US" altLang="ko-KR" sz="1200" dirty="0"/>
            </a:br>
            <a:r>
              <a:rPr lang="en-US" altLang="ko-KR" sz="1200" dirty="0"/>
              <a:t>ex) 666,780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BKG Cancel Date </a:t>
            </a:r>
            <a:r>
              <a:rPr lang="en-US" altLang="ko-KR" sz="1200" dirty="0"/>
              <a:t>: </a:t>
            </a:r>
            <a:r>
              <a:rPr lang="en-US" altLang="zh-CN" sz="1200" dirty="0"/>
              <a:t>Booking Cancel Date</a:t>
            </a:r>
            <a:br>
              <a:rPr lang="en-US" altLang="ko-KR" sz="1200" dirty="0"/>
            </a:br>
            <a:r>
              <a:rPr lang="en-US" altLang="ko-KR" sz="1200" dirty="0"/>
              <a:t>ex) 2023-06-28</a:t>
            </a:r>
            <a:r>
              <a:rPr lang="ko-KR" altLang="en-US" sz="1200" dirty="0"/>
              <a:t> </a:t>
            </a:r>
            <a:r>
              <a:rPr lang="en-US" altLang="ko-KR" sz="1200" dirty="0"/>
              <a:t>12:35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Invoice No. </a:t>
            </a:r>
            <a:r>
              <a:rPr lang="en-US" altLang="ko-KR" sz="1200" dirty="0"/>
              <a:t>ex) 456123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Dispute YN (Yes or No)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Dispute Remark</a:t>
            </a:r>
            <a:endParaRPr lang="en-US" altLang="ko-KR" sz="120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672E040-5DC5-C2F0-E194-8EE152452DB8}"/>
              </a:ext>
            </a:extLst>
          </p:cNvPr>
          <p:cNvSpPr/>
          <p:nvPr/>
        </p:nvSpPr>
        <p:spPr>
          <a:xfrm>
            <a:off x="1184589" y="3453584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D6264-D408-B0F5-C70E-C3AE3C126B33}"/>
              </a:ext>
            </a:extLst>
          </p:cNvPr>
          <p:cNvSpPr txBox="1"/>
          <p:nvPr/>
        </p:nvSpPr>
        <p:spPr>
          <a:xfrm>
            <a:off x="147544" y="57198"/>
            <a:ext cx="43136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latin typeface="+mj-ea"/>
                <a:ea typeface="+mj-ea"/>
              </a:rPr>
              <a:t>Seller</a:t>
            </a:r>
            <a:r>
              <a:rPr lang="ko-KR" altLang="en-US" sz="2200" b="1" dirty="0">
                <a:latin typeface="+mj-ea"/>
                <a:ea typeface="+mj-ea"/>
              </a:rPr>
              <a:t> </a:t>
            </a:r>
            <a:r>
              <a:rPr lang="en-US" altLang="ko-KR" sz="2200" b="1" dirty="0">
                <a:latin typeface="+mj-ea"/>
                <a:ea typeface="+mj-ea"/>
              </a:rPr>
              <a:t>– Confirm a Reservation </a:t>
            </a:r>
            <a:endParaRPr lang="ko-KR" altLang="en-US" sz="2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35824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BA4C5F-EBEB-661E-1189-DA9C1FE2D496}"/>
              </a:ext>
            </a:extLst>
          </p:cNvPr>
          <p:cNvSpPr txBox="1"/>
          <p:nvPr/>
        </p:nvSpPr>
        <p:spPr>
          <a:xfrm>
            <a:off x="2730911" y="2137428"/>
            <a:ext cx="6730177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6600" b="1" dirty="0" err="1">
                <a:solidFill>
                  <a:schemeClr val="accent2"/>
                </a:solidFill>
                <a:latin typeface="Meiryo"/>
                <a:ea typeface="Meiryo"/>
              </a:rPr>
              <a:t>Ohmyhotel.Biz</a:t>
            </a:r>
            <a:endParaRPr lang="ko-KR" altLang="en-US" sz="6600" b="1" dirty="0" err="1">
              <a:solidFill>
                <a:schemeClr val="accent2"/>
              </a:solidFill>
              <a:latin typeface="Meiryo" panose="020B060403050404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1B3F4-5E47-0019-BF1C-1D191A7D953B}"/>
              </a:ext>
            </a:extLst>
          </p:cNvPr>
          <p:cNvSpPr txBox="1"/>
          <p:nvPr/>
        </p:nvSpPr>
        <p:spPr>
          <a:xfrm>
            <a:off x="2463860" y="3612576"/>
            <a:ext cx="72642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- </a:t>
            </a:r>
            <a:r>
              <a:rPr lang="en-US" altLang="zh-CN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Confirm a  Reservation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-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3702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A2B21924-530B-8AC0-855A-784EF41D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4912"/>
            <a:ext cx="8951088" cy="404833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CAED1C8-0AB2-EC4A-3143-C4DA38AF7315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A05359-CB7E-C29E-1A08-709767DA28CE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77E4AF-5E3F-E4C7-D782-3314EC5DB913}"/>
              </a:ext>
            </a:extLst>
          </p:cNvPr>
          <p:cNvSpPr txBox="1"/>
          <p:nvPr/>
        </p:nvSpPr>
        <p:spPr>
          <a:xfrm>
            <a:off x="8984608" y="1805155"/>
            <a:ext cx="3238151" cy="25427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endParaRPr lang="en-US" altLang="ko-KR" sz="1200" dirty="0">
              <a:latin typeface="나눔고딕"/>
              <a:ea typeface="나눔고딕"/>
            </a:endParaRPr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Reservation Number</a:t>
            </a:r>
            <a:br>
              <a:rPr lang="ko-KR" altLang="en-US" sz="1200" dirty="0"/>
            </a:br>
            <a:r>
              <a:rPr lang="en-US" altLang="zh-CN" sz="1200" dirty="0"/>
              <a:t>Click to see the details of reservation in a model window.</a:t>
            </a:r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ko-KR" sz="1200" dirty="0"/>
              <a:t>BKG </a:t>
            </a:r>
            <a:r>
              <a:rPr lang="en-US" altLang="zh-CN" sz="1200" dirty="0"/>
              <a:t>status: Booking status</a:t>
            </a:r>
            <a:br>
              <a:rPr lang="en-US" altLang="ko-KR" sz="1200" dirty="0"/>
            </a:br>
            <a:r>
              <a:rPr lang="en-US" altLang="ko-KR" sz="1200" dirty="0"/>
              <a:t>- Pending</a:t>
            </a:r>
            <a:br>
              <a:rPr lang="en-US" altLang="ko-KR" sz="1200" dirty="0"/>
            </a:br>
            <a:r>
              <a:rPr lang="en-US" altLang="ko-KR" sz="1200" dirty="0"/>
              <a:t>- Confirmed</a:t>
            </a:r>
            <a:br>
              <a:rPr lang="en-US" altLang="ko-KR" sz="1200" dirty="0"/>
            </a:br>
            <a:r>
              <a:rPr lang="en-US" altLang="ko-KR" sz="1200" dirty="0"/>
              <a:t>- Cancelled</a:t>
            </a:r>
            <a:br>
              <a:rPr lang="en-US" altLang="ko-KR" sz="1200" dirty="0"/>
            </a:br>
            <a:r>
              <a:rPr lang="en-US" altLang="ko-KR" sz="1200" dirty="0"/>
              <a:t>- Unavailable</a:t>
            </a:r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EXCEL</a:t>
            </a:r>
            <a:br>
              <a:rPr lang="en-US" altLang="ko-KR" sz="1200" dirty="0"/>
            </a:br>
            <a:r>
              <a:rPr lang="en-US" altLang="zh-CN" sz="1200" dirty="0"/>
              <a:t>All the reservations that you searched  are  available as an EXCEL file.</a:t>
            </a:r>
            <a:endParaRPr lang="en-US" altLang="ko-KR" sz="12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3183392-F360-7C80-8F8F-3E59A2940E28}"/>
              </a:ext>
            </a:extLst>
          </p:cNvPr>
          <p:cNvSpPr/>
          <p:nvPr/>
        </p:nvSpPr>
        <p:spPr>
          <a:xfrm>
            <a:off x="1135298" y="3102291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456C40-8CE1-D274-53E6-614B20A4B457}"/>
              </a:ext>
            </a:extLst>
          </p:cNvPr>
          <p:cNvSpPr/>
          <p:nvPr/>
        </p:nvSpPr>
        <p:spPr>
          <a:xfrm>
            <a:off x="2017635" y="3424893"/>
            <a:ext cx="524901" cy="2238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6D34EC-882E-0685-BECE-5E77F3230D30}"/>
              </a:ext>
            </a:extLst>
          </p:cNvPr>
          <p:cNvSpPr/>
          <p:nvPr/>
        </p:nvSpPr>
        <p:spPr>
          <a:xfrm>
            <a:off x="1230558" y="3429059"/>
            <a:ext cx="689313" cy="22410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3E9FF66-C1DF-023C-3FC0-208D24A18670}"/>
              </a:ext>
            </a:extLst>
          </p:cNvPr>
          <p:cNvSpPr/>
          <p:nvPr/>
        </p:nvSpPr>
        <p:spPr>
          <a:xfrm>
            <a:off x="1968677" y="3106457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AE9AC1-FD1A-BD82-3077-C44DE8E6FBB8}"/>
              </a:ext>
            </a:extLst>
          </p:cNvPr>
          <p:cNvSpPr/>
          <p:nvPr/>
        </p:nvSpPr>
        <p:spPr>
          <a:xfrm>
            <a:off x="8095340" y="2928375"/>
            <a:ext cx="419450" cy="2141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B7BD946-ECDB-77B3-E2B7-25DDC5ADD73A}"/>
              </a:ext>
            </a:extLst>
          </p:cNvPr>
          <p:cNvSpPr/>
          <p:nvPr/>
        </p:nvSpPr>
        <p:spPr>
          <a:xfrm>
            <a:off x="8056186" y="2581863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8B520-F356-E7FC-579B-652E5153308A}"/>
              </a:ext>
            </a:extLst>
          </p:cNvPr>
          <p:cNvSpPr txBox="1"/>
          <p:nvPr/>
        </p:nvSpPr>
        <p:spPr>
          <a:xfrm>
            <a:off x="129073" y="57198"/>
            <a:ext cx="42695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latin typeface="+mj-lt"/>
                <a:ea typeface="+mj-ea"/>
              </a:rPr>
              <a:t>Seller </a:t>
            </a:r>
            <a:r>
              <a:rPr lang="en-US" altLang="ko-KR" sz="2200" b="1" dirty="0">
                <a:latin typeface="+mj-lt"/>
                <a:ea typeface="+mj-ea"/>
              </a:rPr>
              <a:t>– </a:t>
            </a:r>
            <a:r>
              <a:rPr lang="en-US" altLang="zh-CN" sz="2200" b="1" dirty="0">
                <a:latin typeface="+mj-lt"/>
                <a:ea typeface="+mj-ea"/>
              </a:rPr>
              <a:t>Confirm a Reservation</a:t>
            </a:r>
            <a:endParaRPr lang="ko-KR" altLang="en-US" sz="2200" b="1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0492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BE832190-D042-D3A7-3DF7-124F541F9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59" y="984658"/>
            <a:ext cx="8626275" cy="557658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42695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latin typeface="+mj-lt"/>
                <a:ea typeface="+mj-ea"/>
              </a:rPr>
              <a:t>Seller</a:t>
            </a:r>
            <a:r>
              <a:rPr lang="ko-KR" altLang="en-US" sz="2200" b="1" dirty="0">
                <a:latin typeface="+mj-lt"/>
                <a:ea typeface="+mj-ea"/>
              </a:rPr>
              <a:t> </a:t>
            </a:r>
            <a:r>
              <a:rPr lang="en-US" altLang="ko-KR" sz="2200" b="1" dirty="0">
                <a:latin typeface="+mj-lt"/>
                <a:ea typeface="+mj-ea"/>
              </a:rPr>
              <a:t>– Confirm</a:t>
            </a:r>
            <a:r>
              <a:rPr lang="zh-CN" altLang="en-US" sz="2200" b="1" dirty="0">
                <a:latin typeface="+mj-lt"/>
                <a:ea typeface="+mj-ea"/>
              </a:rPr>
              <a:t> </a:t>
            </a:r>
            <a:r>
              <a:rPr lang="en-US" altLang="zh-CN" sz="2200" b="1" dirty="0">
                <a:latin typeface="+mj-lt"/>
                <a:ea typeface="+mj-ea"/>
              </a:rPr>
              <a:t>a</a:t>
            </a:r>
            <a:r>
              <a:rPr lang="zh-CN" altLang="en-US" sz="2200" b="1" dirty="0">
                <a:latin typeface="+mj-lt"/>
                <a:ea typeface="+mj-ea"/>
              </a:rPr>
              <a:t> </a:t>
            </a:r>
            <a:r>
              <a:rPr lang="en-US" altLang="zh-CN" sz="2200" b="1" dirty="0">
                <a:latin typeface="+mj-lt"/>
                <a:ea typeface="+mj-ea"/>
              </a:rPr>
              <a:t>Reservation</a:t>
            </a:r>
            <a:endParaRPr lang="ko-KR" altLang="en-US" sz="2200" b="1" dirty="0">
              <a:latin typeface="+mj-lt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B5C3482-1CBE-06BB-FC3E-1B87B1BCB2FD}"/>
              </a:ext>
            </a:extLst>
          </p:cNvPr>
          <p:cNvSpPr/>
          <p:nvPr/>
        </p:nvSpPr>
        <p:spPr>
          <a:xfrm>
            <a:off x="0" y="1169441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136BC6-D4C3-0C2C-E322-201C53F11087}"/>
              </a:ext>
            </a:extLst>
          </p:cNvPr>
          <p:cNvSpPr/>
          <p:nvPr/>
        </p:nvSpPr>
        <p:spPr>
          <a:xfrm>
            <a:off x="327804" y="1325919"/>
            <a:ext cx="8246853" cy="6926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8BF5A1-25E6-9A1E-3C00-84031A3BF4B2}"/>
              </a:ext>
            </a:extLst>
          </p:cNvPr>
          <p:cNvSpPr/>
          <p:nvPr/>
        </p:nvSpPr>
        <p:spPr>
          <a:xfrm>
            <a:off x="312956" y="2123951"/>
            <a:ext cx="8246853" cy="14215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05CAD1-A449-4B1C-CC9D-2140550A969F}"/>
              </a:ext>
            </a:extLst>
          </p:cNvPr>
          <p:cNvSpPr/>
          <p:nvPr/>
        </p:nvSpPr>
        <p:spPr>
          <a:xfrm>
            <a:off x="327803" y="3622072"/>
            <a:ext cx="8246853" cy="28649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9763C-AC80-E44B-9979-4DC3F309D41E}"/>
              </a:ext>
            </a:extLst>
          </p:cNvPr>
          <p:cNvSpPr/>
          <p:nvPr/>
        </p:nvSpPr>
        <p:spPr>
          <a:xfrm>
            <a:off x="-36912" y="2018581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6D34A91-196C-9A5F-D86E-D294CAADD30F}"/>
              </a:ext>
            </a:extLst>
          </p:cNvPr>
          <p:cNvSpPr/>
          <p:nvPr/>
        </p:nvSpPr>
        <p:spPr>
          <a:xfrm>
            <a:off x="-55175" y="3493080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84608" y="981512"/>
            <a:ext cx="3238151" cy="4389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Reservation number and status</a:t>
            </a:r>
            <a:br>
              <a:rPr lang="en-US" altLang="ko-KR" sz="1200" dirty="0"/>
            </a:br>
            <a:r>
              <a:rPr lang="en-US" altLang="ko-KR" sz="1200" dirty="0"/>
              <a:t>- OMH </a:t>
            </a:r>
            <a:r>
              <a:rPr lang="en-US" altLang="zh-CN" sz="1200" dirty="0"/>
              <a:t>Reservation number</a:t>
            </a:r>
            <a:br>
              <a:rPr lang="en-US" altLang="ko-KR" sz="1200" dirty="0"/>
            </a:br>
            <a:r>
              <a:rPr lang="en-US" altLang="ko-KR" sz="1200" dirty="0"/>
              <a:t>- Hotel’s</a:t>
            </a:r>
            <a:r>
              <a:rPr lang="zh-CN" altLang="en-US" sz="1200" dirty="0"/>
              <a:t> </a:t>
            </a:r>
            <a:r>
              <a:rPr lang="en-US" altLang="zh-CN" sz="1200" dirty="0"/>
              <a:t>confirmation number</a:t>
            </a:r>
            <a:br>
              <a:rPr lang="en-US" altLang="ko-KR" sz="1200" dirty="0"/>
            </a:br>
            <a:r>
              <a:rPr lang="en-US" altLang="ko-KR" sz="1200" dirty="0"/>
              <a:t>- Reservation status</a:t>
            </a:r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Booker’s Information</a:t>
            </a:r>
            <a:br>
              <a:rPr lang="en-US" altLang="ko-KR" sz="1200" dirty="0"/>
            </a:br>
            <a:r>
              <a:rPr lang="en-US" altLang="ko-KR" sz="1200" dirty="0"/>
              <a:t>-</a:t>
            </a:r>
            <a:r>
              <a:rPr lang="ko-KR" altLang="en-US" sz="1200" dirty="0"/>
              <a:t> </a:t>
            </a:r>
            <a:r>
              <a:rPr lang="en-US" altLang="ko-KR" sz="1200" dirty="0"/>
              <a:t>Booker’s</a:t>
            </a:r>
            <a:r>
              <a:rPr lang="zh-CN" altLang="en-US" sz="1200" dirty="0"/>
              <a:t> </a:t>
            </a:r>
            <a:r>
              <a:rPr lang="en-US" altLang="zh-CN" sz="1200" dirty="0"/>
              <a:t>name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Email</a:t>
            </a:r>
            <a:br>
              <a:rPr lang="en-US" altLang="ko-KR" sz="1200" dirty="0"/>
            </a:br>
            <a:r>
              <a:rPr lang="en-US" altLang="ko-KR" sz="1200" dirty="0"/>
              <a:t>- Contact</a:t>
            </a:r>
            <a:r>
              <a:rPr lang="zh-CN" altLang="en-US" sz="1200" dirty="0"/>
              <a:t> </a:t>
            </a:r>
            <a:r>
              <a:rPr lang="en-US" altLang="zh-CN" sz="1200" dirty="0"/>
              <a:t>number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Booking Detail</a:t>
            </a:r>
            <a:br>
              <a:rPr lang="en-US" altLang="ko-KR" sz="1200" dirty="0"/>
            </a:br>
            <a:r>
              <a:rPr lang="en-US" altLang="ko-KR" sz="1200" dirty="0"/>
              <a:t>- Booking</a:t>
            </a:r>
            <a:r>
              <a:rPr lang="zh-CN" altLang="en-US" sz="1200" dirty="0"/>
              <a:t> </a:t>
            </a:r>
            <a:r>
              <a:rPr lang="en-US" altLang="zh-CN" sz="1200" dirty="0"/>
              <a:t>status</a:t>
            </a:r>
            <a:r>
              <a:rPr lang="ko-KR" altLang="en-US" sz="1200" dirty="0"/>
              <a:t> </a:t>
            </a:r>
            <a:br>
              <a:rPr lang="en-US" altLang="ko-KR" sz="1200" dirty="0"/>
            </a:br>
            <a:r>
              <a:rPr lang="en-US" altLang="ko-KR" sz="1200" dirty="0"/>
              <a:t>- Check in/out date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Region and Hotel name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Rooms/Travelers</a:t>
            </a:r>
            <a:br>
              <a:rPr lang="en-US" altLang="ko-KR" sz="1200" dirty="0"/>
            </a:br>
            <a:r>
              <a:rPr lang="en-US" altLang="ko-KR" sz="1200" dirty="0"/>
              <a:t>- Room</a:t>
            </a:r>
            <a:r>
              <a:rPr lang="zh-CN" altLang="en-US" sz="1200" dirty="0"/>
              <a:t> </a:t>
            </a:r>
            <a:r>
              <a:rPr lang="en-US" altLang="zh-CN" sz="1200" dirty="0"/>
              <a:t>Type</a:t>
            </a:r>
            <a:br>
              <a:rPr lang="en-US" altLang="ko-KR" sz="1200" dirty="0"/>
            </a:br>
            <a:r>
              <a:rPr lang="en-US" altLang="ko-KR" sz="1200" dirty="0"/>
              <a:t>- Meal</a:t>
            </a:r>
            <a:r>
              <a:rPr lang="zh-CN" altLang="en-US" sz="1200" dirty="0"/>
              <a:t> </a:t>
            </a:r>
            <a:r>
              <a:rPr lang="en-US" altLang="zh-CN" sz="1200" dirty="0"/>
              <a:t>Type</a:t>
            </a:r>
            <a:br>
              <a:rPr lang="en-US" altLang="ko-KR" sz="1200" dirty="0"/>
            </a:br>
            <a:r>
              <a:rPr lang="en-US" altLang="ko-KR" sz="1200" dirty="0"/>
              <a:t>-Breakfast</a:t>
            </a:r>
            <a:br>
              <a:rPr lang="en-US" altLang="ko-KR" sz="1200" dirty="0"/>
            </a:br>
            <a:r>
              <a:rPr lang="en-US" altLang="ko-KR" sz="1200" dirty="0"/>
              <a:t>-Cancellation</a:t>
            </a:r>
            <a:r>
              <a:rPr lang="zh-CN" altLang="en-US" sz="1200" dirty="0"/>
              <a:t> </a:t>
            </a:r>
            <a:r>
              <a:rPr lang="en-US" altLang="zh-CN" sz="1200" dirty="0"/>
              <a:t>D/L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Cancel/Voucher/Invoice</a:t>
            </a:r>
            <a:br>
              <a:rPr lang="en-US" altLang="ko-KR" sz="1200" dirty="0"/>
            </a:br>
            <a:r>
              <a:rPr lang="en-US" altLang="ko-KR" sz="1200" dirty="0"/>
              <a:t>Cancel: </a:t>
            </a:r>
            <a:r>
              <a:rPr lang="en-US" altLang="zh-CN" sz="1200" dirty="0"/>
              <a:t>Booking cancellation key</a:t>
            </a:r>
            <a:br>
              <a:rPr lang="en-US" altLang="ko-KR" sz="1200" dirty="0"/>
            </a:br>
            <a:r>
              <a:rPr lang="en-US" altLang="ko-KR" sz="1200" dirty="0"/>
              <a:t>Voucher: Send email</a:t>
            </a:r>
            <a:r>
              <a:rPr lang="ko-KR" altLang="en-US" sz="1200" dirty="0"/>
              <a:t> </a:t>
            </a:r>
            <a:r>
              <a:rPr lang="en-US" altLang="ko-KR" sz="1200" dirty="0"/>
              <a:t>/ Print</a:t>
            </a:r>
            <a:br>
              <a:rPr lang="en-US" altLang="ko-KR" sz="1200" dirty="0"/>
            </a:br>
            <a:r>
              <a:rPr lang="en-US" altLang="ko-KR" sz="1200" dirty="0"/>
              <a:t>Invoice: Send</a:t>
            </a:r>
            <a:r>
              <a:rPr lang="zh-CN" altLang="en-US" sz="1200" dirty="0"/>
              <a:t> </a:t>
            </a:r>
            <a:r>
              <a:rPr lang="en-US" altLang="zh-CN" sz="1200" dirty="0"/>
              <a:t>email</a:t>
            </a:r>
            <a:r>
              <a:rPr lang="ko-KR" altLang="en-US" sz="1200" dirty="0"/>
              <a:t> </a:t>
            </a:r>
            <a:r>
              <a:rPr lang="en-US" altLang="ko-KR" sz="1200" dirty="0"/>
              <a:t>/ Print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23B24E5-9BA7-FDCD-A91D-5572F07CCD18}"/>
              </a:ext>
            </a:extLst>
          </p:cNvPr>
          <p:cNvSpPr/>
          <p:nvPr/>
        </p:nvSpPr>
        <p:spPr>
          <a:xfrm>
            <a:off x="6775712" y="3662398"/>
            <a:ext cx="312956" cy="32243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4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CF2817-97CB-2D09-3A52-0E5BFB39062F}"/>
              </a:ext>
            </a:extLst>
          </p:cNvPr>
          <p:cNvSpPr/>
          <p:nvPr/>
        </p:nvSpPr>
        <p:spPr>
          <a:xfrm>
            <a:off x="7158690" y="3611458"/>
            <a:ext cx="1309036" cy="3129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64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 descr="텍스트, 소프트웨어, 번호, 스크린샷이(가) 표시된 사진&#10;&#10;자동 생성된 설명">
            <a:extLst>
              <a:ext uri="{FF2B5EF4-FFF2-40B4-BE49-F238E27FC236}">
                <a16:creationId xmlns:a16="http://schemas.microsoft.com/office/drawing/2014/main" id="{86078437-7ED8-1A14-3D08-ECB8999F8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241" y="1516559"/>
            <a:ext cx="9036937" cy="455643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2001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39121" y="57198"/>
            <a:ext cx="42695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/>
              <a:t>Seller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– Confirm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Reservation</a:t>
            </a:r>
            <a:endParaRPr lang="ko-KR" altLang="en-US" sz="2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B5C3482-1CBE-06BB-FC3E-1B87B1BCB2FD}"/>
              </a:ext>
            </a:extLst>
          </p:cNvPr>
          <p:cNvSpPr/>
          <p:nvPr/>
        </p:nvSpPr>
        <p:spPr>
          <a:xfrm>
            <a:off x="0" y="1203603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136BC6-D4C3-0C2C-E322-201C53F11087}"/>
              </a:ext>
            </a:extLst>
          </p:cNvPr>
          <p:cNvSpPr/>
          <p:nvPr/>
        </p:nvSpPr>
        <p:spPr>
          <a:xfrm>
            <a:off x="129073" y="1551211"/>
            <a:ext cx="8505965" cy="8918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8BF5A1-25E6-9A1E-3C00-84031A3BF4B2}"/>
              </a:ext>
            </a:extLst>
          </p:cNvPr>
          <p:cNvSpPr/>
          <p:nvPr/>
        </p:nvSpPr>
        <p:spPr>
          <a:xfrm>
            <a:off x="154951" y="2514951"/>
            <a:ext cx="8480087" cy="12116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05CAD1-A449-4B1C-CC9D-2140550A969F}"/>
              </a:ext>
            </a:extLst>
          </p:cNvPr>
          <p:cNvSpPr/>
          <p:nvPr/>
        </p:nvSpPr>
        <p:spPr>
          <a:xfrm>
            <a:off x="154951" y="3830002"/>
            <a:ext cx="8480087" cy="9021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9763C-AC80-E44B-9979-4DC3F309D41E}"/>
              </a:ext>
            </a:extLst>
          </p:cNvPr>
          <p:cNvSpPr/>
          <p:nvPr/>
        </p:nvSpPr>
        <p:spPr>
          <a:xfrm>
            <a:off x="626655" y="2538356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6D34A91-196C-9A5F-D86E-D294CAADD30F}"/>
              </a:ext>
            </a:extLst>
          </p:cNvPr>
          <p:cNvSpPr/>
          <p:nvPr/>
        </p:nvSpPr>
        <p:spPr>
          <a:xfrm>
            <a:off x="741188" y="3863736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84608" y="1065402"/>
            <a:ext cx="3238151" cy="2953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ko-KR" sz="1200" dirty="0"/>
              <a:t>Travelers</a:t>
            </a:r>
            <a:br>
              <a:rPr lang="en-US" altLang="ko-KR" sz="1200" dirty="0"/>
            </a:br>
            <a:r>
              <a:rPr lang="en-US" altLang="ko-KR" sz="1200" dirty="0"/>
              <a:t>- Name</a:t>
            </a:r>
            <a:br>
              <a:rPr lang="en-US" altLang="ko-KR" sz="1200" dirty="0"/>
            </a:br>
            <a:r>
              <a:rPr lang="en-US" altLang="ko-KR" sz="1200" dirty="0"/>
              <a:t>- English Name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Child Birthday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ko-KR" sz="1200" dirty="0"/>
              <a:t>Special</a:t>
            </a:r>
            <a:r>
              <a:rPr lang="zh-CN" altLang="en-US" sz="1200" dirty="0"/>
              <a:t> </a:t>
            </a:r>
            <a:r>
              <a:rPr lang="en-US" altLang="zh-CN" sz="1200" dirty="0"/>
              <a:t>Request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In English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Billing and Payment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Confirm billing amount and balance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Select Payment Method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Credit Card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Virtual Bank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Cancellation Policy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Confirm cancellation deadline and          </a:t>
            </a:r>
          </a:p>
          <a:p>
            <a:pPr>
              <a:lnSpc>
                <a:spcPts val="1600"/>
              </a:lnSpc>
            </a:pPr>
            <a:r>
              <a:rPr lang="en-US" altLang="zh-CN" sz="1200" dirty="0"/>
              <a:t>         cancellation policy</a:t>
            </a:r>
            <a:r>
              <a:rPr lang="zh-CN" altLang="en-US" sz="1200" dirty="0"/>
              <a:t> </a:t>
            </a:r>
            <a:endParaRPr lang="en-US" altLang="ko-KR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107A74-4306-7763-8619-F691FB5AFA4E}"/>
              </a:ext>
            </a:extLst>
          </p:cNvPr>
          <p:cNvSpPr/>
          <p:nvPr/>
        </p:nvSpPr>
        <p:spPr>
          <a:xfrm>
            <a:off x="139121" y="4818233"/>
            <a:ext cx="8505965" cy="10465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B7B712A-7FF8-8DC6-A95D-16BF0665D7B3}"/>
              </a:ext>
            </a:extLst>
          </p:cNvPr>
          <p:cNvSpPr/>
          <p:nvPr/>
        </p:nvSpPr>
        <p:spPr>
          <a:xfrm>
            <a:off x="626655" y="4856860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5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D0F1437-4704-2646-C20E-4F7F84328843}"/>
              </a:ext>
            </a:extLst>
          </p:cNvPr>
          <p:cNvSpPr/>
          <p:nvPr/>
        </p:nvSpPr>
        <p:spPr>
          <a:xfrm>
            <a:off x="7195640" y="3877943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4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153C58-44BA-52B7-1BBB-DEDA5CA4ECC6}"/>
              </a:ext>
            </a:extLst>
          </p:cNvPr>
          <p:cNvSpPr/>
          <p:nvPr/>
        </p:nvSpPr>
        <p:spPr>
          <a:xfrm>
            <a:off x="7558930" y="3873346"/>
            <a:ext cx="1034163" cy="2949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865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BA4C5F-EBEB-661E-1189-DA9C1FE2D496}"/>
              </a:ext>
            </a:extLst>
          </p:cNvPr>
          <p:cNvSpPr txBox="1"/>
          <p:nvPr/>
        </p:nvSpPr>
        <p:spPr>
          <a:xfrm>
            <a:off x="2737324" y="2137428"/>
            <a:ext cx="6717352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6600" b="1" dirty="0" err="1">
                <a:solidFill>
                  <a:schemeClr val="accent2"/>
                </a:solidFill>
                <a:latin typeface="Meiryo"/>
                <a:ea typeface="Meiryo"/>
              </a:rPr>
              <a:t>Ohmyhotel.Biz</a:t>
            </a:r>
            <a:endParaRPr lang="ko-KR" altLang="en-US" sz="6600" b="1" dirty="0" err="1">
              <a:solidFill>
                <a:schemeClr val="accent2"/>
              </a:solidFill>
              <a:latin typeface="Meiry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1B3F4-5E47-0019-BF1C-1D191A7D953B}"/>
              </a:ext>
            </a:extLst>
          </p:cNvPr>
          <p:cNvSpPr txBox="1"/>
          <p:nvPr/>
        </p:nvSpPr>
        <p:spPr>
          <a:xfrm>
            <a:off x="2912989" y="3612577"/>
            <a:ext cx="63660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- </a:t>
            </a:r>
            <a:r>
              <a:rPr lang="en-US" altLang="zh-CN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Make a Reservation</a:t>
            </a:r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-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41792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2923E2-1BBE-A48B-2409-0543CDA10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5" y="1563340"/>
            <a:ext cx="8896581" cy="315127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39229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/>
              <a:t>Seller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– Make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Reservation</a:t>
            </a:r>
            <a:endParaRPr lang="ko-KR" altLang="en-US" sz="2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B5C3482-1CBE-06BB-FC3E-1B87B1BCB2FD}"/>
              </a:ext>
            </a:extLst>
          </p:cNvPr>
          <p:cNvSpPr/>
          <p:nvPr/>
        </p:nvSpPr>
        <p:spPr>
          <a:xfrm>
            <a:off x="567683" y="2115930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136BC6-D4C3-0C2C-E322-201C53F11087}"/>
              </a:ext>
            </a:extLst>
          </p:cNvPr>
          <p:cNvSpPr/>
          <p:nvPr/>
        </p:nvSpPr>
        <p:spPr>
          <a:xfrm>
            <a:off x="103003" y="2281806"/>
            <a:ext cx="425503" cy="129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8BF5A1-25E6-9A1E-3C00-84031A3BF4B2}"/>
              </a:ext>
            </a:extLst>
          </p:cNvPr>
          <p:cNvSpPr/>
          <p:nvPr/>
        </p:nvSpPr>
        <p:spPr>
          <a:xfrm>
            <a:off x="1012489" y="1563341"/>
            <a:ext cx="7795952" cy="975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9763C-AC80-E44B-9979-4DC3F309D41E}"/>
              </a:ext>
            </a:extLst>
          </p:cNvPr>
          <p:cNvSpPr/>
          <p:nvPr/>
        </p:nvSpPr>
        <p:spPr>
          <a:xfrm>
            <a:off x="948000" y="1198066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84608" y="1258349"/>
            <a:ext cx="3238151" cy="2337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Make a reservation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Search Conditions</a:t>
            </a:r>
            <a:br>
              <a:rPr lang="en-US" altLang="ko-KR" sz="1200" dirty="0"/>
            </a:br>
            <a:r>
              <a:rPr lang="en-US" altLang="ko-KR" sz="1200" dirty="0"/>
              <a:t>- Destination</a:t>
            </a:r>
            <a:r>
              <a:rPr lang="ko-KR" altLang="en-US" sz="1200" dirty="0"/>
              <a:t> </a:t>
            </a:r>
            <a:r>
              <a:rPr lang="en-US" altLang="ko-KR" sz="1200" dirty="0"/>
              <a:t>(Required)</a:t>
            </a:r>
            <a:br>
              <a:rPr lang="en-US" altLang="ko-KR" sz="1200" dirty="0"/>
            </a:br>
            <a:r>
              <a:rPr lang="en-US" altLang="ko-KR" sz="1200" dirty="0"/>
              <a:t>- Hotel</a:t>
            </a:r>
            <a:r>
              <a:rPr lang="zh-CN" altLang="en-US" sz="1200" dirty="0"/>
              <a:t> </a:t>
            </a:r>
            <a:r>
              <a:rPr lang="en-US" altLang="zh-CN" sz="1200" dirty="0"/>
              <a:t>Name</a:t>
            </a:r>
            <a:br>
              <a:rPr lang="en-US" altLang="ko-KR" sz="1200" dirty="0"/>
            </a:br>
            <a:r>
              <a:rPr lang="en-US" altLang="ko-KR" sz="1200" dirty="0"/>
              <a:t>- Check In/Out</a:t>
            </a:r>
            <a:r>
              <a:rPr lang="ko-KR" altLang="en-US" sz="1200" dirty="0"/>
              <a:t> </a:t>
            </a:r>
            <a:r>
              <a:rPr lang="en-US" altLang="ko-KR" sz="1200" dirty="0"/>
              <a:t>(Required)</a:t>
            </a:r>
            <a:br>
              <a:rPr lang="en-US" altLang="ko-KR" sz="1200" dirty="0"/>
            </a:br>
            <a:r>
              <a:rPr lang="en-US" altLang="ko-KR" sz="1200" dirty="0"/>
              <a:t>- Rooms</a:t>
            </a:r>
            <a:r>
              <a:rPr lang="ko-KR" altLang="en-US" sz="1200" dirty="0"/>
              <a:t> </a:t>
            </a:r>
            <a:r>
              <a:rPr lang="en-US" altLang="ko-KR" sz="1200" dirty="0"/>
              <a:t>(Required)</a:t>
            </a:r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ko-KR" sz="1200" dirty="0"/>
              <a:t>Check In/Out</a:t>
            </a:r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ko-KR" sz="1200" dirty="0"/>
              <a:t>Rooms</a:t>
            </a:r>
            <a:br>
              <a:rPr lang="en-US" altLang="ko-KR" sz="1200" dirty="0"/>
            </a:br>
            <a:r>
              <a:rPr lang="en-US" altLang="ko-KR" sz="1200" dirty="0"/>
              <a:t>Default – One room(for 2 adults)</a:t>
            </a:r>
            <a:br>
              <a:rPr lang="en-US" altLang="ko-KR" sz="1200" dirty="0"/>
            </a:br>
            <a:r>
              <a:rPr lang="en-US" altLang="zh-CN" sz="1200" dirty="0"/>
              <a:t>If there is a child, then you must fill the      child’s age.</a:t>
            </a:r>
            <a:endParaRPr lang="en-US" altLang="ko-KR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913B8A-5AAC-D97D-2660-98C099BCD765}"/>
              </a:ext>
            </a:extLst>
          </p:cNvPr>
          <p:cNvSpPr/>
          <p:nvPr/>
        </p:nvSpPr>
        <p:spPr>
          <a:xfrm>
            <a:off x="4621153" y="1859062"/>
            <a:ext cx="3298054" cy="3304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29C0710-FFE4-B19E-7096-3A01934390F7}"/>
              </a:ext>
            </a:extLst>
          </p:cNvPr>
          <p:cNvSpPr/>
          <p:nvPr/>
        </p:nvSpPr>
        <p:spPr>
          <a:xfrm>
            <a:off x="4279710" y="1702584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13CD528-528B-2A13-7E59-F1618B861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6" y="5293506"/>
            <a:ext cx="8835523" cy="419437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6609C2-A439-496C-071A-2771C432F020}"/>
              </a:ext>
            </a:extLst>
          </p:cNvPr>
          <p:cNvSpPr/>
          <p:nvPr/>
        </p:nvSpPr>
        <p:spPr>
          <a:xfrm>
            <a:off x="77835" y="5283220"/>
            <a:ext cx="8835523" cy="4194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6A31312-5167-F35B-FECF-DA0EBCDDE23B}"/>
              </a:ext>
            </a:extLst>
          </p:cNvPr>
          <p:cNvSpPr/>
          <p:nvPr/>
        </p:nvSpPr>
        <p:spPr>
          <a:xfrm>
            <a:off x="61057" y="4918532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4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0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BDFD5B6-F548-7BFB-193B-9443CA34F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9" y="1262598"/>
            <a:ext cx="8951349" cy="466149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39229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/>
              <a:t>Seller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– Make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Reservation</a:t>
            </a:r>
            <a:endParaRPr lang="ko-KR" altLang="en-US" sz="2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8BF5A1-25E6-9A1E-3C00-84031A3BF4B2}"/>
              </a:ext>
            </a:extLst>
          </p:cNvPr>
          <p:cNvSpPr/>
          <p:nvPr/>
        </p:nvSpPr>
        <p:spPr>
          <a:xfrm>
            <a:off x="1468073" y="2164832"/>
            <a:ext cx="7485776" cy="2334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9763C-AC80-E44B-9979-4DC3F309D41E}"/>
              </a:ext>
            </a:extLst>
          </p:cNvPr>
          <p:cNvSpPr/>
          <p:nvPr/>
        </p:nvSpPr>
        <p:spPr>
          <a:xfrm>
            <a:off x="1770783" y="1826709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84608" y="1258349"/>
            <a:ext cx="3238151" cy="3979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Hotel List</a:t>
            </a:r>
            <a:br>
              <a:rPr lang="en-US" altLang="ko-KR" sz="1200" dirty="0"/>
            </a:br>
            <a:r>
              <a:rPr lang="en-US" altLang="zh-CN" sz="1200" dirty="0"/>
              <a:t>Lists of hotels available for booking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Hotel English Name</a:t>
            </a:r>
            <a:br>
              <a:rPr lang="en-US" altLang="ko-KR" sz="1200" dirty="0"/>
            </a:br>
            <a:r>
              <a:rPr lang="en-US" altLang="ko-KR" sz="1200" dirty="0"/>
              <a:t>- Hotel Star Rating</a:t>
            </a:r>
            <a:br>
              <a:rPr lang="en-US" altLang="ko-KR" sz="1200" dirty="0"/>
            </a:br>
            <a:r>
              <a:rPr lang="en-US" altLang="ko-KR" sz="1200" dirty="0"/>
              <a:t>- Fare</a:t>
            </a:r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Sorting Order</a:t>
            </a:r>
            <a:br>
              <a:rPr lang="en-US" altLang="ko-KR" sz="1200" dirty="0"/>
            </a:br>
            <a:r>
              <a:rPr lang="en-US" altLang="ko-KR" sz="1200" dirty="0"/>
              <a:t>- Recommendation</a:t>
            </a:r>
            <a:br>
              <a:rPr lang="en-US" altLang="ko-KR" sz="1200" dirty="0"/>
            </a:br>
            <a:r>
              <a:rPr lang="en-US" altLang="ko-KR" sz="1200" dirty="0"/>
              <a:t>- Star Rating</a:t>
            </a:r>
            <a:br>
              <a:rPr lang="en-US" altLang="ko-KR" sz="1200" dirty="0"/>
            </a:br>
            <a:r>
              <a:rPr lang="en-US" altLang="ko-KR" sz="1200" dirty="0"/>
              <a:t>- Fare</a:t>
            </a:r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Search and Filter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Search by accommodation company      name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en-US" altLang="zh-CN" sz="1200" dirty="0"/>
              <a:t>Fare</a:t>
            </a:r>
            <a:r>
              <a:rPr lang="ko-KR" altLang="en-US" sz="1200" dirty="0"/>
              <a:t> </a:t>
            </a:r>
            <a:r>
              <a:rPr lang="en-US" altLang="ko-KR" sz="1200" dirty="0"/>
              <a:t>/ Star</a:t>
            </a:r>
            <a:r>
              <a:rPr lang="zh-CN" altLang="en-US" sz="1200" dirty="0"/>
              <a:t> </a:t>
            </a:r>
            <a:r>
              <a:rPr lang="en-US" altLang="zh-CN" sz="1200" dirty="0"/>
              <a:t>Rating</a:t>
            </a:r>
            <a:r>
              <a:rPr lang="ko-KR" altLang="en-US" sz="1200" dirty="0"/>
              <a:t> </a:t>
            </a:r>
            <a:r>
              <a:rPr lang="en-US" altLang="ko-KR" sz="1200" dirty="0"/>
              <a:t>/ Accommodation</a:t>
            </a:r>
            <a:r>
              <a:rPr lang="zh-CN" altLang="en-US" sz="1200" dirty="0"/>
              <a:t>    </a:t>
            </a:r>
            <a:r>
              <a:rPr lang="en-US" altLang="zh-CN" sz="1200" dirty="0"/>
              <a:t>Type</a:t>
            </a:r>
            <a:r>
              <a:rPr lang="ko-KR" altLang="en-US" sz="1200" dirty="0"/>
              <a:t> </a:t>
            </a:r>
            <a:r>
              <a:rPr lang="en-US" altLang="ko-KR" sz="1200" dirty="0"/>
              <a:t>/ </a:t>
            </a:r>
            <a:r>
              <a:rPr lang="en-US" altLang="zh-CN" sz="1200" dirty="0"/>
              <a:t>Filter chain hotel brands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When you click ‘Select’,  you can confirm the corresponding hotel information and available rooms.</a:t>
            </a:r>
            <a:br>
              <a:rPr lang="en-US" altLang="ko-KR" sz="1200" dirty="0"/>
            </a:br>
            <a:r>
              <a:rPr lang="en-US" altLang="zh-CN" sz="1200" dirty="0"/>
              <a:t>When you click </a:t>
            </a:r>
            <a:r>
              <a:rPr lang="zh-CN" altLang="en-US" sz="1200" dirty="0"/>
              <a:t>‘</a:t>
            </a:r>
            <a:r>
              <a:rPr lang="ko-KR" altLang="en-US" sz="1200" dirty="0"/>
              <a:t>→</a:t>
            </a:r>
            <a:r>
              <a:rPr lang="zh-CN" altLang="en-US" sz="1200" dirty="0"/>
              <a:t>’</a:t>
            </a:r>
            <a:r>
              <a:rPr lang="en-US" altLang="zh-CN" sz="1200" dirty="0"/>
              <a:t>, you can open the   same screen as next to it. </a:t>
            </a:r>
            <a:endParaRPr lang="en-US" altLang="ko-KR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913B8A-5AAC-D97D-2660-98C099BCD765}"/>
              </a:ext>
            </a:extLst>
          </p:cNvPr>
          <p:cNvSpPr/>
          <p:nvPr/>
        </p:nvSpPr>
        <p:spPr>
          <a:xfrm>
            <a:off x="7012015" y="1937856"/>
            <a:ext cx="1941833" cy="239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29C0710-FFE4-B19E-7096-3A01934390F7}"/>
              </a:ext>
            </a:extLst>
          </p:cNvPr>
          <p:cNvSpPr/>
          <p:nvPr/>
        </p:nvSpPr>
        <p:spPr>
          <a:xfrm>
            <a:off x="6683679" y="1693274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0D5234-4D12-6203-CCA8-AA34D249D0EE}"/>
              </a:ext>
            </a:extLst>
          </p:cNvPr>
          <p:cNvSpPr/>
          <p:nvPr/>
        </p:nvSpPr>
        <p:spPr>
          <a:xfrm>
            <a:off x="61736" y="1983187"/>
            <a:ext cx="1375577" cy="3940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9A7D868-C31A-7F3A-FDDF-81255E5AF175}"/>
              </a:ext>
            </a:extLst>
          </p:cNvPr>
          <p:cNvSpPr/>
          <p:nvPr/>
        </p:nvSpPr>
        <p:spPr>
          <a:xfrm>
            <a:off x="61736" y="1634550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BDF59A3-5776-64EC-1162-48A751AC859A}"/>
              </a:ext>
            </a:extLst>
          </p:cNvPr>
          <p:cNvSpPr/>
          <p:nvPr/>
        </p:nvSpPr>
        <p:spPr>
          <a:xfrm>
            <a:off x="7927829" y="2453902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4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EB05ED-3858-95D9-A928-A72CCDF9A39D}"/>
              </a:ext>
            </a:extLst>
          </p:cNvPr>
          <p:cNvSpPr/>
          <p:nvPr/>
        </p:nvSpPr>
        <p:spPr>
          <a:xfrm>
            <a:off x="8271545" y="2284708"/>
            <a:ext cx="612396" cy="239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580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0A84C8E9-E3A8-796A-30F6-66495113F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174" y="578839"/>
            <a:ext cx="6217086" cy="62584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39229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/>
              <a:t>Seller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– Make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Reservation</a:t>
            </a:r>
            <a:endParaRPr lang="ko-KR" altLang="en-US" sz="2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8BF5A1-25E6-9A1E-3C00-84031A3BF4B2}"/>
              </a:ext>
            </a:extLst>
          </p:cNvPr>
          <p:cNvSpPr/>
          <p:nvPr/>
        </p:nvSpPr>
        <p:spPr>
          <a:xfrm>
            <a:off x="1374952" y="3598876"/>
            <a:ext cx="6200306" cy="27599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9763C-AC80-E44B-9979-4DC3F309D41E}"/>
              </a:ext>
            </a:extLst>
          </p:cNvPr>
          <p:cNvSpPr/>
          <p:nvPr/>
        </p:nvSpPr>
        <p:spPr>
          <a:xfrm>
            <a:off x="1120380" y="745338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84608" y="1258349"/>
            <a:ext cx="3238151" cy="33452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To change search conditions</a:t>
            </a:r>
            <a:br>
              <a:rPr lang="en-US" altLang="ko-KR" sz="1200" dirty="0"/>
            </a:br>
            <a:r>
              <a:rPr lang="en-US" altLang="zh-CN" sz="1200" dirty="0"/>
              <a:t>Check In/Out &amp; Rooms</a:t>
            </a:r>
            <a:br>
              <a:rPr lang="ko-KR" altLang="en-US" sz="1200" dirty="0"/>
            </a:br>
            <a:r>
              <a:rPr lang="ko-KR" altLang="en-US" sz="1200" dirty="0"/>
              <a:t>★ </a:t>
            </a:r>
            <a:r>
              <a:rPr lang="en-US" altLang="zh-CN" sz="1200" dirty="0"/>
              <a:t>If children are traveling together, the current system is not running properly  and may not be able to make accurate search. If the query is not successful,    please contact  us.   </a:t>
            </a:r>
            <a:endParaRPr lang="ko-KR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List of available rooms for booking</a:t>
            </a:r>
            <a:br>
              <a:rPr lang="en-US" altLang="ko-KR" sz="1200" dirty="0"/>
            </a:br>
            <a:r>
              <a:rPr lang="en-US" altLang="zh-CN" sz="1200" dirty="0"/>
              <a:t>Room Type/Breakfast or not/To check   the amount.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Hotel Information</a:t>
            </a:r>
            <a:br>
              <a:rPr lang="en-US" altLang="ko-KR" sz="1200" dirty="0"/>
            </a:br>
            <a:r>
              <a:rPr lang="en-US" altLang="zh-CN" sz="1200" dirty="0"/>
              <a:t>To check hotel address and information.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Hotel Photos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When you click ‘Select’, you can move   to the booking page.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913B8A-5AAC-D97D-2660-98C099BCD765}"/>
              </a:ext>
            </a:extLst>
          </p:cNvPr>
          <p:cNvSpPr/>
          <p:nvPr/>
        </p:nvSpPr>
        <p:spPr>
          <a:xfrm>
            <a:off x="1433336" y="970040"/>
            <a:ext cx="6141924" cy="4644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29C0710-FFE4-B19E-7096-3A01934390F7}"/>
              </a:ext>
            </a:extLst>
          </p:cNvPr>
          <p:cNvSpPr/>
          <p:nvPr/>
        </p:nvSpPr>
        <p:spPr>
          <a:xfrm>
            <a:off x="1017362" y="1426436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9A7D868-C31A-7F3A-FDDF-81255E5AF175}"/>
              </a:ext>
            </a:extLst>
          </p:cNvPr>
          <p:cNvSpPr/>
          <p:nvPr/>
        </p:nvSpPr>
        <p:spPr>
          <a:xfrm>
            <a:off x="1003301" y="3587331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BDF59A3-5776-64EC-1162-48A751AC859A}"/>
              </a:ext>
            </a:extLst>
          </p:cNvPr>
          <p:cNvSpPr/>
          <p:nvPr/>
        </p:nvSpPr>
        <p:spPr>
          <a:xfrm>
            <a:off x="964348" y="6393522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4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EB05ED-3858-95D9-A928-A72CCDF9A39D}"/>
              </a:ext>
            </a:extLst>
          </p:cNvPr>
          <p:cNvSpPr/>
          <p:nvPr/>
        </p:nvSpPr>
        <p:spPr>
          <a:xfrm>
            <a:off x="1374953" y="1514673"/>
            <a:ext cx="6200306" cy="2033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3024BC-ADA0-3E72-6D1F-804CDD80809A}"/>
              </a:ext>
            </a:extLst>
          </p:cNvPr>
          <p:cNvSpPr/>
          <p:nvPr/>
        </p:nvSpPr>
        <p:spPr>
          <a:xfrm>
            <a:off x="1358174" y="6393522"/>
            <a:ext cx="6217084" cy="4644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964FA13-8BDA-E830-5BA1-6F7C9B3068F2}"/>
              </a:ext>
            </a:extLst>
          </p:cNvPr>
          <p:cNvSpPr/>
          <p:nvPr/>
        </p:nvSpPr>
        <p:spPr>
          <a:xfrm>
            <a:off x="7122253" y="1631870"/>
            <a:ext cx="404070" cy="4644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CD77E62-C91C-7132-2342-C1DEDA640EE4}"/>
              </a:ext>
            </a:extLst>
          </p:cNvPr>
          <p:cNvSpPr/>
          <p:nvPr/>
        </p:nvSpPr>
        <p:spPr>
          <a:xfrm>
            <a:off x="6760361" y="1669240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5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68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DF07D70D-A61E-9D98-3661-E95604984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40" y="573858"/>
            <a:ext cx="6484533" cy="632242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39229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/>
              <a:t>Seller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– Make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Reservation</a:t>
            </a:r>
            <a:endParaRPr lang="ko-KR" altLang="en-US" sz="2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8BF5A1-25E6-9A1E-3C00-84031A3BF4B2}"/>
              </a:ext>
            </a:extLst>
          </p:cNvPr>
          <p:cNvSpPr/>
          <p:nvPr/>
        </p:nvSpPr>
        <p:spPr>
          <a:xfrm>
            <a:off x="513450" y="3714750"/>
            <a:ext cx="6121223" cy="23526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9763C-AC80-E44B-9979-4DC3F309D41E}"/>
              </a:ext>
            </a:extLst>
          </p:cNvPr>
          <p:cNvSpPr/>
          <p:nvPr/>
        </p:nvSpPr>
        <p:spPr>
          <a:xfrm>
            <a:off x="49328" y="802488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84608" y="1258349"/>
            <a:ext cx="3238151" cy="4383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Booker</a:t>
            </a:r>
            <a:br>
              <a:rPr lang="en-US" altLang="ko-KR" sz="1200" dirty="0"/>
            </a:br>
            <a:r>
              <a:rPr lang="en-US" altLang="zh-CN" sz="1200" dirty="0"/>
              <a:t>The OP account information that you    typed will be displayed.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Booking Detail</a:t>
            </a:r>
            <a:br>
              <a:rPr lang="en-US" altLang="ko-KR" sz="1200" dirty="0"/>
            </a:br>
            <a:r>
              <a:rPr lang="en-US" altLang="zh-CN" sz="1200" dirty="0"/>
              <a:t>To confirm hotel name, check in/out    date and room type. 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Travelers Information and Special        Request</a:t>
            </a:r>
            <a:br>
              <a:rPr lang="en-US" altLang="ko-KR" sz="1200" dirty="0"/>
            </a:br>
            <a:r>
              <a:rPr lang="en-US" altLang="zh-CN" sz="1200" dirty="0"/>
              <a:t>Please fill in the guest’s name properly.  If there are children, please fill in         children’s birthday.</a:t>
            </a:r>
            <a:br>
              <a:rPr lang="en-US" altLang="ko-KR" sz="1200" dirty="0"/>
            </a:br>
            <a:r>
              <a:rPr lang="en-US" altLang="ko-KR" sz="1200" dirty="0"/>
              <a:t>1. </a:t>
            </a:r>
            <a:r>
              <a:rPr lang="en-US" altLang="zh-CN" sz="1200" dirty="0"/>
              <a:t>If there is no companion’s name, it   can be filled in as TBA/TBA,TBB/TBB,    but every name has to be written in    different letters.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ko-KR" sz="1200" dirty="0"/>
              <a:t>Claim</a:t>
            </a:r>
            <a:r>
              <a:rPr lang="zh-CN" altLang="en-US" sz="1200" dirty="0"/>
              <a:t> </a:t>
            </a:r>
            <a:r>
              <a:rPr lang="en-US" altLang="zh-CN" sz="1200" dirty="0"/>
              <a:t>Amount</a:t>
            </a:r>
            <a:br>
              <a:rPr lang="en-US" altLang="ko-KR" sz="1200" dirty="0"/>
            </a:br>
            <a:r>
              <a:rPr lang="en-US" altLang="zh-CN" sz="1200" dirty="0"/>
              <a:t>To check the payment amount of the</a:t>
            </a:r>
            <a:r>
              <a:rPr lang="ko-KR" altLang="en-US" sz="1200" dirty="0"/>
              <a:t> </a:t>
            </a:r>
            <a:r>
              <a:rPr lang="en-US" altLang="ko-KR" sz="1200" dirty="0"/>
              <a:t>hotel.</a:t>
            </a:r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‘Create’ button</a:t>
            </a:r>
            <a:br>
              <a:rPr lang="en-US" altLang="ko-KR" sz="1200" dirty="0"/>
            </a:br>
            <a:r>
              <a:rPr lang="en-US" altLang="zh-CN" sz="1200" dirty="0"/>
              <a:t>If you click the button, you can make    the reservation.</a:t>
            </a:r>
            <a:endParaRPr lang="en-US" altLang="ko-KR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913B8A-5AAC-D97D-2660-98C099BCD765}"/>
              </a:ext>
            </a:extLst>
          </p:cNvPr>
          <p:cNvSpPr/>
          <p:nvPr/>
        </p:nvSpPr>
        <p:spPr>
          <a:xfrm>
            <a:off x="514684" y="903365"/>
            <a:ext cx="6141924" cy="7727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29C0710-FFE4-B19E-7096-3A01934390F7}"/>
              </a:ext>
            </a:extLst>
          </p:cNvPr>
          <p:cNvSpPr/>
          <p:nvPr/>
        </p:nvSpPr>
        <p:spPr>
          <a:xfrm>
            <a:off x="31647" y="1670060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9A7D868-C31A-7F3A-FDDF-81255E5AF175}"/>
              </a:ext>
            </a:extLst>
          </p:cNvPr>
          <p:cNvSpPr/>
          <p:nvPr/>
        </p:nvSpPr>
        <p:spPr>
          <a:xfrm>
            <a:off x="84649" y="3634956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BDF59A3-5776-64EC-1162-48A751AC859A}"/>
              </a:ext>
            </a:extLst>
          </p:cNvPr>
          <p:cNvSpPr/>
          <p:nvPr/>
        </p:nvSpPr>
        <p:spPr>
          <a:xfrm>
            <a:off x="55221" y="6145872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4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EB05ED-3858-95D9-A928-A72CCDF9A39D}"/>
              </a:ext>
            </a:extLst>
          </p:cNvPr>
          <p:cNvSpPr/>
          <p:nvPr/>
        </p:nvSpPr>
        <p:spPr>
          <a:xfrm>
            <a:off x="503926" y="1729866"/>
            <a:ext cx="6141924" cy="19502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3024BC-ADA0-3E72-6D1F-804CDD80809A}"/>
              </a:ext>
            </a:extLst>
          </p:cNvPr>
          <p:cNvSpPr/>
          <p:nvPr/>
        </p:nvSpPr>
        <p:spPr>
          <a:xfrm>
            <a:off x="506197" y="6102092"/>
            <a:ext cx="6139653" cy="432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0DD085-D2B9-2BE1-8515-8DA57C6D2D9D}"/>
              </a:ext>
            </a:extLst>
          </p:cNvPr>
          <p:cNvSpPr/>
          <p:nvPr/>
        </p:nvSpPr>
        <p:spPr>
          <a:xfrm>
            <a:off x="5977448" y="6544553"/>
            <a:ext cx="514350" cy="298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795A4BF-0E0F-A55C-87D7-ECEC383B3131}"/>
              </a:ext>
            </a:extLst>
          </p:cNvPr>
          <p:cNvSpPr/>
          <p:nvPr/>
        </p:nvSpPr>
        <p:spPr>
          <a:xfrm>
            <a:off x="5633732" y="6535028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5</a:t>
            </a:r>
            <a:endParaRPr lang="ko-KR" altLang="en-US" b="1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6EF109-E976-34DD-0350-5B117E6E3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737" y="4666188"/>
            <a:ext cx="5316111" cy="138293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C5C4861-67D0-C8CC-CB10-03BF19A93F34}"/>
              </a:ext>
            </a:extLst>
          </p:cNvPr>
          <p:cNvSpPr/>
          <p:nvPr/>
        </p:nvSpPr>
        <p:spPr>
          <a:xfrm>
            <a:off x="3659106" y="4677006"/>
            <a:ext cx="5294742" cy="13721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144CC09-DB6E-2E5C-2DA8-B9CBEC620696}"/>
              </a:ext>
            </a:extLst>
          </p:cNvPr>
          <p:cNvSpPr/>
          <p:nvPr/>
        </p:nvSpPr>
        <p:spPr>
          <a:xfrm>
            <a:off x="3731343" y="4286043"/>
            <a:ext cx="1311246" cy="4033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3-1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866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39229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/>
              <a:t>Seller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– Make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Reservation</a:t>
            </a:r>
            <a:endParaRPr lang="ko-KR" altLang="en-US" sz="2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9763C-AC80-E44B-9979-4DC3F309D41E}"/>
              </a:ext>
            </a:extLst>
          </p:cNvPr>
          <p:cNvSpPr/>
          <p:nvPr/>
        </p:nvSpPr>
        <p:spPr>
          <a:xfrm>
            <a:off x="2101455" y="2346867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84608" y="1258349"/>
            <a:ext cx="3238151" cy="28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Window for a successful reservation</a:t>
            </a:r>
            <a:endParaRPr lang="en-US" altLang="ko-KR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913B8A-5AAC-D97D-2660-98C099BCD765}"/>
              </a:ext>
            </a:extLst>
          </p:cNvPr>
          <p:cNvSpPr/>
          <p:nvPr/>
        </p:nvSpPr>
        <p:spPr>
          <a:xfrm>
            <a:off x="2566811" y="2447744"/>
            <a:ext cx="3729214" cy="2001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44A523-8CCA-85CF-E877-4FD4CC739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518" y="2528887"/>
            <a:ext cx="34861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20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BA4C5F-EBEB-661E-1189-DA9C1FE2D496}"/>
              </a:ext>
            </a:extLst>
          </p:cNvPr>
          <p:cNvSpPr txBox="1"/>
          <p:nvPr/>
        </p:nvSpPr>
        <p:spPr>
          <a:xfrm>
            <a:off x="2737324" y="2137428"/>
            <a:ext cx="6717352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6600" b="1" dirty="0" err="1">
                <a:solidFill>
                  <a:schemeClr val="accent2"/>
                </a:solidFill>
                <a:latin typeface="Meiryo"/>
                <a:ea typeface="Meiryo"/>
              </a:rPr>
              <a:t>Ohmyhotel.Biz</a:t>
            </a:r>
            <a:endParaRPr lang="ko-KR" altLang="en-US" sz="6600" b="1" dirty="0" err="1">
              <a:solidFill>
                <a:schemeClr val="accent2"/>
              </a:solidFill>
              <a:latin typeface="Meiry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1B3F4-5E47-0019-BF1C-1D191A7D953B}"/>
              </a:ext>
            </a:extLst>
          </p:cNvPr>
          <p:cNvSpPr txBox="1"/>
          <p:nvPr/>
        </p:nvSpPr>
        <p:spPr>
          <a:xfrm>
            <a:off x="3551210" y="3612577"/>
            <a:ext cx="50895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- </a:t>
            </a:r>
            <a:r>
              <a:rPr lang="en-US" altLang="zh-CN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Confirm Billing</a:t>
            </a:r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-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05583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20466448-4082-2FAF-9396-C14D3BBCB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05" y="724277"/>
            <a:ext cx="8585756" cy="528354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50649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latin typeface="+mj-lt"/>
                <a:ea typeface="+mj-ea"/>
              </a:rPr>
              <a:t>Confirm Billing</a:t>
            </a:r>
            <a:r>
              <a:rPr lang="ko-KR" altLang="en-US" sz="2200" b="1" dirty="0">
                <a:latin typeface="+mj-lt"/>
                <a:ea typeface="+mj-ea"/>
              </a:rPr>
              <a:t> </a:t>
            </a:r>
            <a:r>
              <a:rPr lang="en-US" altLang="ko-KR" sz="2200" b="1" dirty="0">
                <a:latin typeface="+mj-lt"/>
                <a:ea typeface="+mj-ea"/>
              </a:rPr>
              <a:t>(Prepaid</a:t>
            </a:r>
            <a:r>
              <a:rPr lang="zh-CN" altLang="en-US" sz="2200" b="1" dirty="0">
                <a:latin typeface="+mj-lt"/>
                <a:ea typeface="+mj-ea"/>
              </a:rPr>
              <a:t> </a:t>
            </a:r>
            <a:r>
              <a:rPr lang="en-US" altLang="zh-CN" sz="2200" b="1" dirty="0">
                <a:latin typeface="+mj-lt"/>
                <a:ea typeface="+mj-ea"/>
              </a:rPr>
              <a:t>Company</a:t>
            </a:r>
            <a:r>
              <a:rPr lang="zh-CN" altLang="en-US" sz="2200" b="1" dirty="0">
                <a:latin typeface="+mj-lt"/>
                <a:ea typeface="+mj-ea"/>
              </a:rPr>
              <a:t>）</a:t>
            </a:r>
            <a:endParaRPr lang="ko-KR" altLang="en-US" sz="2200" b="1" dirty="0">
              <a:latin typeface="+mj-lt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54520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9763C-AC80-E44B-9979-4DC3F309D41E}"/>
              </a:ext>
            </a:extLst>
          </p:cNvPr>
          <p:cNvSpPr/>
          <p:nvPr/>
        </p:nvSpPr>
        <p:spPr>
          <a:xfrm>
            <a:off x="7619448" y="2744328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84608" y="1258349"/>
            <a:ext cx="3238151" cy="1703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Search Reservation&gt;Click OMH Booking code&gt;Click Invoice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After opening the invoicing simulation window, detailed information and        account number can be confirmed.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It can be sent as an email or printed.  (PDF File)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913B8A-5AAC-D97D-2660-98C099BCD765}"/>
              </a:ext>
            </a:extLst>
          </p:cNvPr>
          <p:cNvSpPr/>
          <p:nvPr/>
        </p:nvSpPr>
        <p:spPr>
          <a:xfrm>
            <a:off x="7840301" y="3075390"/>
            <a:ext cx="538533" cy="3355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988A4B23-96F8-05B7-90F5-15C119AA0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693" y="2223047"/>
            <a:ext cx="3422168" cy="4505331"/>
          </a:xfrm>
          <a:prstGeom prst="rect">
            <a:avLst/>
          </a:prstGeom>
        </p:spPr>
      </p:pic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0538EEF0-F0F8-CC40-49AC-20E52EB327B3}"/>
              </a:ext>
            </a:extLst>
          </p:cNvPr>
          <p:cNvSpPr/>
          <p:nvPr/>
        </p:nvSpPr>
        <p:spPr>
          <a:xfrm rot="3416842">
            <a:off x="6614065" y="2945613"/>
            <a:ext cx="312956" cy="236213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7AE258-F2A0-C3B7-810E-FFCE124357B7}"/>
              </a:ext>
            </a:extLst>
          </p:cNvPr>
          <p:cNvSpPr/>
          <p:nvPr/>
        </p:nvSpPr>
        <p:spPr>
          <a:xfrm>
            <a:off x="2142375" y="2154723"/>
            <a:ext cx="3520610" cy="46641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18EC3C-C129-EF86-6914-A0FECFDBE798}"/>
              </a:ext>
            </a:extLst>
          </p:cNvPr>
          <p:cNvSpPr/>
          <p:nvPr/>
        </p:nvSpPr>
        <p:spPr>
          <a:xfrm>
            <a:off x="4543332" y="2529090"/>
            <a:ext cx="897802" cy="277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B2BA0BF-82E8-5CE6-4171-64CBC6E19E29}"/>
              </a:ext>
            </a:extLst>
          </p:cNvPr>
          <p:cNvSpPr/>
          <p:nvPr/>
        </p:nvSpPr>
        <p:spPr>
          <a:xfrm>
            <a:off x="1883737" y="1810295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91443E7-806D-3B60-48DC-0890EEA80FAC}"/>
              </a:ext>
            </a:extLst>
          </p:cNvPr>
          <p:cNvSpPr/>
          <p:nvPr/>
        </p:nvSpPr>
        <p:spPr>
          <a:xfrm>
            <a:off x="4179613" y="2495694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877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번호, 스크린샷이(가) 표시된 사진&#10;&#10;자동 생성된 설명">
            <a:extLst>
              <a:ext uri="{FF2B5EF4-FFF2-40B4-BE49-F238E27FC236}">
                <a16:creationId xmlns:a16="http://schemas.microsoft.com/office/drawing/2014/main" id="{A7B3C504-47A6-881B-805A-8A774BAE5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2" y="1760583"/>
            <a:ext cx="8904579" cy="33368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50649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/>
              <a:t>Confirm Billing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(Prepaid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Company</a:t>
            </a:r>
            <a:r>
              <a:rPr lang="zh-CN" altLang="en-US" sz="2200" b="1" dirty="0"/>
              <a:t>）</a:t>
            </a:r>
            <a:endParaRPr lang="ko-KR" altLang="en-US" sz="2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9763C-AC80-E44B-9979-4DC3F309D41E}"/>
              </a:ext>
            </a:extLst>
          </p:cNvPr>
          <p:cNvSpPr/>
          <p:nvPr/>
        </p:nvSpPr>
        <p:spPr>
          <a:xfrm>
            <a:off x="452675" y="2171530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84608" y="1846821"/>
            <a:ext cx="3238151" cy="19212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Seller &gt; Click on invoice category 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Searching after setting the invoice date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There will be an invoice list at the       bottom.</a:t>
            </a:r>
            <a:endParaRPr lang="en-US" altLang="ko-KR" sz="1200" dirty="0"/>
          </a:p>
          <a:p>
            <a:pPr>
              <a:lnSpc>
                <a:spcPts val="1600"/>
              </a:lnSpc>
            </a:pP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endParaRPr lang="en-US" altLang="ko-KR" sz="1200" dirty="0"/>
          </a:p>
          <a:p>
            <a:pPr>
              <a:lnSpc>
                <a:spcPts val="1600"/>
              </a:lnSpc>
            </a:pPr>
            <a:r>
              <a:rPr lang="en-US" altLang="ko-KR" sz="1200" dirty="0"/>
              <a:t>※ </a:t>
            </a:r>
            <a:r>
              <a:rPr lang="en-US" altLang="zh-CN" sz="1200" dirty="0"/>
              <a:t>The invoice will be issued after the       person in charge of Oh my hotel generates the  invoice.</a:t>
            </a:r>
            <a:endParaRPr lang="en-US" altLang="ko-KR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18EC3C-C129-EF86-6914-A0FECFDBE798}"/>
              </a:ext>
            </a:extLst>
          </p:cNvPr>
          <p:cNvSpPr/>
          <p:nvPr/>
        </p:nvSpPr>
        <p:spPr>
          <a:xfrm>
            <a:off x="92861" y="2393288"/>
            <a:ext cx="359814" cy="1960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96AAA3-6E31-28AC-FAB7-F785E138962B}"/>
              </a:ext>
            </a:extLst>
          </p:cNvPr>
          <p:cNvSpPr/>
          <p:nvPr/>
        </p:nvSpPr>
        <p:spPr>
          <a:xfrm>
            <a:off x="1232089" y="2067889"/>
            <a:ext cx="7631253" cy="476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76AB20F-CE81-D352-EEED-2FAE2B5F9E25}"/>
              </a:ext>
            </a:extLst>
          </p:cNvPr>
          <p:cNvSpPr/>
          <p:nvPr/>
        </p:nvSpPr>
        <p:spPr>
          <a:xfrm>
            <a:off x="1075611" y="1754933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977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CC30B00C-2159-B2A1-0F0F-5C1311CA2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0" y="1533021"/>
            <a:ext cx="8963268" cy="433724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50649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/>
              <a:t>Confirm Billing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(Prepaid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Company</a:t>
            </a:r>
            <a:r>
              <a:rPr lang="zh-CN" altLang="en-US" sz="2200" b="1" dirty="0"/>
              <a:t>）</a:t>
            </a:r>
            <a:endParaRPr lang="ko-KR" altLang="en-US" sz="2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9763C-AC80-E44B-9979-4DC3F309D41E}"/>
              </a:ext>
            </a:extLst>
          </p:cNvPr>
          <p:cNvSpPr/>
          <p:nvPr/>
        </p:nvSpPr>
        <p:spPr>
          <a:xfrm>
            <a:off x="482406" y="1663883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84608" y="1846821"/>
            <a:ext cx="3238151" cy="21264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Click on the invoice number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ko-KR" sz="1200" dirty="0"/>
              <a:t>To</a:t>
            </a:r>
            <a:r>
              <a:rPr lang="zh-CN" altLang="en-US" sz="1200" dirty="0"/>
              <a:t> </a:t>
            </a:r>
            <a:r>
              <a:rPr lang="en-US" altLang="zh-CN" sz="1200" dirty="0"/>
              <a:t>confirm</a:t>
            </a:r>
            <a:r>
              <a:rPr lang="zh-CN" altLang="en-US" sz="1200" dirty="0"/>
              <a:t> </a:t>
            </a:r>
            <a:r>
              <a:rPr lang="en-US" altLang="zh-CN" sz="1200" dirty="0"/>
              <a:t>the invoice reservation list in the ‘reservation list’.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r>
              <a:rPr lang="en-US" altLang="zh-CN" sz="1200" dirty="0"/>
              <a:t>Click on the ‘Invoice View’ key to         confirm billing.</a:t>
            </a:r>
            <a:endParaRPr lang="en-US" altLang="ko-KR" sz="1200" dirty="0"/>
          </a:p>
          <a:p>
            <a:pPr>
              <a:lnSpc>
                <a:spcPts val="1600"/>
              </a:lnSpc>
            </a:pPr>
            <a:endParaRPr lang="en-US" altLang="ko-KR" sz="1200" dirty="0"/>
          </a:p>
          <a:p>
            <a:pPr marL="228600" indent="-228600">
              <a:lnSpc>
                <a:spcPts val="1600"/>
              </a:lnSpc>
              <a:buAutoNum type="arabicPeriod"/>
            </a:pPr>
            <a:endParaRPr lang="en-US" altLang="ko-KR" sz="1200" dirty="0"/>
          </a:p>
          <a:p>
            <a:pPr>
              <a:lnSpc>
                <a:spcPts val="1600"/>
              </a:lnSpc>
            </a:pPr>
            <a:r>
              <a:rPr lang="en-US" altLang="ko-KR" sz="1200" dirty="0"/>
              <a:t>※</a:t>
            </a:r>
            <a:r>
              <a:rPr lang="en-US" altLang="zh-CN" sz="1200" dirty="0"/>
              <a:t> The invoice will be issued after the       person in charge of Oh my hotel generates the  invoice.</a:t>
            </a:r>
            <a:endParaRPr lang="en-US" altLang="ko-KR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18EC3C-C129-EF86-6914-A0FECFDBE798}"/>
              </a:ext>
            </a:extLst>
          </p:cNvPr>
          <p:cNvSpPr/>
          <p:nvPr/>
        </p:nvSpPr>
        <p:spPr>
          <a:xfrm>
            <a:off x="729423" y="1995788"/>
            <a:ext cx="583332" cy="213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96AAA3-6E31-28AC-FAB7-F785E138962B}"/>
              </a:ext>
            </a:extLst>
          </p:cNvPr>
          <p:cNvSpPr/>
          <p:nvPr/>
        </p:nvSpPr>
        <p:spPr>
          <a:xfrm>
            <a:off x="39235" y="3046569"/>
            <a:ext cx="8905560" cy="25303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76AB20F-CE81-D352-EEED-2FAE2B5F9E25}"/>
              </a:ext>
            </a:extLst>
          </p:cNvPr>
          <p:cNvSpPr/>
          <p:nvPr/>
        </p:nvSpPr>
        <p:spPr>
          <a:xfrm>
            <a:off x="296197" y="2733613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464CDA-F5F7-614D-2B18-523F2EA9A9E1}"/>
              </a:ext>
            </a:extLst>
          </p:cNvPr>
          <p:cNvSpPr/>
          <p:nvPr/>
        </p:nvSpPr>
        <p:spPr>
          <a:xfrm>
            <a:off x="8094230" y="2007358"/>
            <a:ext cx="370760" cy="213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1602B1F-8DD9-3C4A-ABD3-86D5DB374185}"/>
              </a:ext>
            </a:extLst>
          </p:cNvPr>
          <p:cNvSpPr/>
          <p:nvPr/>
        </p:nvSpPr>
        <p:spPr>
          <a:xfrm>
            <a:off x="7850418" y="1679368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450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BA4C5F-EBEB-661E-1189-DA9C1FE2D496}"/>
              </a:ext>
            </a:extLst>
          </p:cNvPr>
          <p:cNvSpPr txBox="1"/>
          <p:nvPr/>
        </p:nvSpPr>
        <p:spPr>
          <a:xfrm>
            <a:off x="2737324" y="2137428"/>
            <a:ext cx="6717352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6600" b="1" dirty="0" err="1">
                <a:solidFill>
                  <a:schemeClr val="accent2"/>
                </a:solidFill>
                <a:latin typeface="Meiryo"/>
                <a:ea typeface="Meiryo"/>
              </a:rPr>
              <a:t>Ohmyhotel.Biz</a:t>
            </a:r>
            <a:endParaRPr lang="ko-KR" altLang="en-US" sz="6600" b="1" dirty="0" err="1">
              <a:solidFill>
                <a:schemeClr val="accent2"/>
              </a:solidFill>
              <a:latin typeface="Meiry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1B3F4-5E47-0019-BF1C-1D191A7D953B}"/>
              </a:ext>
            </a:extLst>
          </p:cNvPr>
          <p:cNvSpPr txBox="1"/>
          <p:nvPr/>
        </p:nvSpPr>
        <p:spPr>
          <a:xfrm>
            <a:off x="4387683" y="3612577"/>
            <a:ext cx="34166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- Staff List</a:t>
            </a:r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-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1787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D2CD1D9-1CBE-1500-05C7-3EB3ABF4A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" y="1449888"/>
            <a:ext cx="8943457" cy="220774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34052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latin typeface="+mj-lt"/>
                <a:ea typeface="+mj-ea"/>
              </a:rPr>
              <a:t>Member List </a:t>
            </a:r>
            <a:r>
              <a:rPr lang="en-US" altLang="ko-KR" sz="2200" b="1" dirty="0">
                <a:latin typeface="+mj-lt"/>
                <a:ea typeface="+mj-ea"/>
              </a:rPr>
              <a:t>– </a:t>
            </a:r>
            <a:r>
              <a:rPr lang="en-US" altLang="zh-CN" sz="2200" b="1" dirty="0">
                <a:latin typeface="+mj-lt"/>
                <a:ea typeface="+mj-ea"/>
              </a:rPr>
              <a:t>Staff List</a:t>
            </a:r>
            <a:endParaRPr lang="ko-KR" altLang="en-US" sz="2200" b="1" dirty="0">
              <a:latin typeface="+mj-lt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8993238" y="1467144"/>
            <a:ext cx="3238151" cy="1100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/>
              <a:t>To query and generate a list of staffs.</a:t>
            </a:r>
            <a:endParaRPr lang="en-US" altLang="ko-KR" sz="1200" dirty="0"/>
          </a:p>
          <a:p>
            <a:pPr>
              <a:lnSpc>
                <a:spcPts val="1600"/>
              </a:lnSpc>
            </a:pPr>
            <a:endParaRPr lang="en-US" altLang="ko-KR" sz="1200" dirty="0"/>
          </a:p>
          <a:p>
            <a:pPr marL="228600" indent="-228600">
              <a:lnSpc>
                <a:spcPts val="1600"/>
              </a:lnSpc>
              <a:buFont typeface="+mj-lt"/>
              <a:buAutoNum type="arabicPeriod"/>
            </a:pPr>
            <a:r>
              <a:rPr lang="en-US" altLang="zh-CN" sz="1200" dirty="0"/>
              <a:t>When you click search, the list will show like image 2.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Font typeface="+mj-lt"/>
              <a:buAutoNum type="arabicPeriod"/>
            </a:pPr>
            <a:r>
              <a:rPr lang="en-US" altLang="ko-KR" sz="1200" dirty="0"/>
              <a:t>Staff list example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0CAE59A-7C40-18E0-5936-B72C519AF57E}"/>
              </a:ext>
            </a:extLst>
          </p:cNvPr>
          <p:cNvSpPr/>
          <p:nvPr/>
        </p:nvSpPr>
        <p:spPr>
          <a:xfrm>
            <a:off x="7559102" y="1559312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A24050-C35E-08A5-A0B4-3A34FDB58674}"/>
              </a:ext>
            </a:extLst>
          </p:cNvPr>
          <p:cNvSpPr/>
          <p:nvPr/>
        </p:nvSpPr>
        <p:spPr>
          <a:xfrm>
            <a:off x="7906562" y="1754051"/>
            <a:ext cx="512819" cy="402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 descr="텍스트, 스크린샷, 영수증이(가) 표시된 사진&#10;&#10;자동 생성된 설명">
            <a:extLst>
              <a:ext uri="{FF2B5EF4-FFF2-40B4-BE49-F238E27FC236}">
                <a16:creationId xmlns:a16="http://schemas.microsoft.com/office/drawing/2014/main" id="{55092701-7397-0A5B-2D19-4E89444C0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30" y="4203333"/>
            <a:ext cx="8993238" cy="251258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20527C-07F5-C55E-E191-644F7392B6BB}"/>
              </a:ext>
            </a:extLst>
          </p:cNvPr>
          <p:cNvSpPr/>
          <p:nvPr/>
        </p:nvSpPr>
        <p:spPr>
          <a:xfrm>
            <a:off x="14775" y="4168828"/>
            <a:ext cx="8930443" cy="25125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AAB5170-A2F5-1508-3D7C-64520B6E9C42}"/>
              </a:ext>
            </a:extLst>
          </p:cNvPr>
          <p:cNvSpPr/>
          <p:nvPr/>
        </p:nvSpPr>
        <p:spPr>
          <a:xfrm>
            <a:off x="129073" y="3833178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805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영수증이(가) 표시된 사진&#10;&#10;자동 생성된 설명">
            <a:extLst>
              <a:ext uri="{FF2B5EF4-FFF2-40B4-BE49-F238E27FC236}">
                <a16:creationId xmlns:a16="http://schemas.microsoft.com/office/drawing/2014/main" id="{3FC5F70F-BF1F-78C1-7CEA-2BDFD7C4E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1694"/>
            <a:ext cx="8984608" cy="251017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7F3B62-7523-0772-70D3-53FE96678EF3}"/>
              </a:ext>
            </a:extLst>
          </p:cNvPr>
          <p:cNvSpPr/>
          <p:nvPr/>
        </p:nvSpPr>
        <p:spPr>
          <a:xfrm>
            <a:off x="-1" y="0"/>
            <a:ext cx="12191999" cy="5452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950-98A6-2A91-AB4A-F80E69E11F08}"/>
              </a:ext>
            </a:extLst>
          </p:cNvPr>
          <p:cNvSpPr txBox="1"/>
          <p:nvPr/>
        </p:nvSpPr>
        <p:spPr>
          <a:xfrm>
            <a:off x="129073" y="57198"/>
            <a:ext cx="34052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/>
              <a:t>Member List </a:t>
            </a:r>
            <a:r>
              <a:rPr lang="en-US" altLang="ko-KR" sz="2200" b="1" dirty="0"/>
              <a:t>– </a:t>
            </a:r>
            <a:r>
              <a:rPr lang="en-US" altLang="zh-CN" sz="2200" b="1" dirty="0"/>
              <a:t>Staff List</a:t>
            </a:r>
            <a:endParaRPr lang="ko-KR" altLang="en-US" sz="2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70F1D-7A23-FB23-C565-72D95B79B57A}"/>
              </a:ext>
            </a:extLst>
          </p:cNvPr>
          <p:cNvSpPr/>
          <p:nvPr/>
        </p:nvSpPr>
        <p:spPr>
          <a:xfrm>
            <a:off x="8984608" y="545284"/>
            <a:ext cx="3207391" cy="631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8E862-F937-5D00-4FA1-6E4B0A8E4D4A}"/>
              </a:ext>
            </a:extLst>
          </p:cNvPr>
          <p:cNvSpPr txBox="1"/>
          <p:nvPr/>
        </p:nvSpPr>
        <p:spPr>
          <a:xfrm>
            <a:off x="9007928" y="2355660"/>
            <a:ext cx="3238151" cy="1716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600"/>
              </a:lnSpc>
              <a:buFont typeface="+mj-lt"/>
              <a:buAutoNum type="arabicPeriod"/>
            </a:pPr>
            <a:r>
              <a:rPr lang="en-US" altLang="ko-KR" sz="1200" dirty="0"/>
              <a:t>New</a:t>
            </a:r>
            <a:br>
              <a:rPr lang="en-US" altLang="ko-KR" sz="1200" dirty="0"/>
            </a:br>
            <a:r>
              <a:rPr lang="en-US" altLang="zh-CN" sz="1200" dirty="0"/>
              <a:t>When you click, it will show like image 2. </a:t>
            </a:r>
            <a:endParaRPr lang="en-US" altLang="ko-KR" sz="1200" dirty="0"/>
          </a:p>
          <a:p>
            <a:pPr marL="228600" indent="-228600">
              <a:lnSpc>
                <a:spcPts val="1600"/>
              </a:lnSpc>
              <a:buFont typeface="+mj-lt"/>
              <a:buAutoNum type="arabicPeriod"/>
            </a:pPr>
            <a:r>
              <a:rPr lang="en-US" altLang="zh-CN" sz="1200" dirty="0"/>
              <a:t>User Information</a:t>
            </a:r>
            <a:br>
              <a:rPr lang="en-US" altLang="ko-KR" sz="1200" dirty="0"/>
            </a:br>
            <a:r>
              <a:rPr lang="en-US" altLang="ko-KR" sz="1200" dirty="0"/>
              <a:t>A new ID is created by clicking the save button 3 times after filling in the required value (*denotes).</a:t>
            </a:r>
          </a:p>
          <a:p>
            <a:pPr marL="228600" indent="-228600">
              <a:lnSpc>
                <a:spcPts val="1600"/>
              </a:lnSpc>
              <a:buFont typeface="+mj-lt"/>
              <a:buAutoNum type="arabicPeriod"/>
            </a:pPr>
            <a:r>
              <a:rPr lang="en-US" altLang="ko-KR" sz="1200" dirty="0"/>
              <a:t>Save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8A653DA-C627-D627-C395-063375EAA162}"/>
              </a:ext>
            </a:extLst>
          </p:cNvPr>
          <p:cNvSpPr/>
          <p:nvPr/>
        </p:nvSpPr>
        <p:spPr>
          <a:xfrm>
            <a:off x="8263605" y="1435537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1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84F839-40F1-1346-0C2D-5D9E17F7095A}"/>
              </a:ext>
            </a:extLst>
          </p:cNvPr>
          <p:cNvSpPr/>
          <p:nvPr/>
        </p:nvSpPr>
        <p:spPr>
          <a:xfrm>
            <a:off x="8615380" y="1443515"/>
            <a:ext cx="312956" cy="3129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A11EBC6-0B4B-B1B9-E56A-9DD8AE9A3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910" y="3160181"/>
            <a:ext cx="4034788" cy="3634999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527993FD-E976-01D1-DE37-EA277D36E908}"/>
              </a:ext>
            </a:extLst>
          </p:cNvPr>
          <p:cNvSpPr/>
          <p:nvPr/>
        </p:nvSpPr>
        <p:spPr>
          <a:xfrm>
            <a:off x="2053556" y="3164936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2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BDF65E7-1D11-E693-89ED-51184BCA0EFE}"/>
              </a:ext>
            </a:extLst>
          </p:cNvPr>
          <p:cNvSpPr/>
          <p:nvPr/>
        </p:nvSpPr>
        <p:spPr>
          <a:xfrm>
            <a:off x="5281603" y="6349718"/>
            <a:ext cx="312956" cy="312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3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5AC3BB-8920-E3D9-523D-27E3F5FC2689}"/>
              </a:ext>
            </a:extLst>
          </p:cNvPr>
          <p:cNvSpPr/>
          <p:nvPr/>
        </p:nvSpPr>
        <p:spPr>
          <a:xfrm>
            <a:off x="5633378" y="6357696"/>
            <a:ext cx="369228" cy="3129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042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19">
            <a:extLst>
              <a:ext uri="{FF2B5EF4-FFF2-40B4-BE49-F238E27FC236}">
                <a16:creationId xmlns:a16="http://schemas.microsoft.com/office/drawing/2014/main" id="{E9361D0E-0B35-42DA-8779-9780B96F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5" name="Rectangle 121">
            <a:extLst>
              <a:ext uri="{FF2B5EF4-FFF2-40B4-BE49-F238E27FC236}">
                <a16:creationId xmlns:a16="http://schemas.microsoft.com/office/drawing/2014/main" id="{6EECC08E-F4F5-429A-B70B-B378AC0B0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5791" y="0"/>
            <a:ext cx="741620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그림 3" descr="그래픽, 폰트, 스크린샷, 그래픽 디자인이(가) 표시된 사진&#10;&#10;자동 생성된 설명">
            <a:extLst>
              <a:ext uri="{FF2B5EF4-FFF2-40B4-BE49-F238E27FC236}">
                <a16:creationId xmlns:a16="http://schemas.microsoft.com/office/drawing/2014/main" id="{CC035B8A-D699-1C36-A7E0-EAF1EDFAC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03" y="2967784"/>
            <a:ext cx="3802957" cy="7401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E3AE95-9F7A-323D-2CDF-C9A777B01B76}"/>
              </a:ext>
            </a:extLst>
          </p:cNvPr>
          <p:cNvSpPr txBox="1"/>
          <p:nvPr/>
        </p:nvSpPr>
        <p:spPr>
          <a:xfrm>
            <a:off x="5647234" y="4183911"/>
            <a:ext cx="5673320" cy="190322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srgbClr val="595959"/>
                </a:solidFill>
                <a:latin typeface="맑은 고딕" panose="020F0502020204030204"/>
                <a:ea typeface="맑은 고딕"/>
              </a:rPr>
              <a:t>If you have any questions, please contact us.</a:t>
            </a:r>
            <a:endParaRPr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</a:endParaRPr>
          </a:p>
          <a:p>
            <a:pPr marL="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/>
                <a:ea typeface="Verdana"/>
              </a:rPr>
              <a:t>Mail : sales@ohmyhotel.com​</a:t>
            </a:r>
            <a:endParaRPr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63FD4-8D0B-F47C-42FD-137850C46623}"/>
              </a:ext>
            </a:extLst>
          </p:cNvPr>
          <p:cNvSpPr txBox="1"/>
          <p:nvPr/>
        </p:nvSpPr>
        <p:spPr>
          <a:xfrm>
            <a:off x="4470209" y="-38999"/>
            <a:ext cx="8330736" cy="657973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Thank you.</a:t>
            </a:r>
            <a:endParaRPr kumimoji="0" lang="en-US" altLang="ko-K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51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16c4d3-1d1a-4a81-b8b4-742860d01d85" xsi:nil="true"/>
    <lcf76f155ced4ddcb4097134ff3c332f xmlns="2805ead4-2c8e-47e0-9b62-9a9b6ee313d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0D3A4E0C212A546BE8CAC4E69BB711C" ma:contentTypeVersion="19" ma:contentTypeDescription="새 문서를 만듭니다." ma:contentTypeScope="" ma:versionID="ffbc43806bf48af02a6a626dfbd56ef1">
  <xsd:schema xmlns:xsd="http://www.w3.org/2001/XMLSchema" xmlns:xs="http://www.w3.org/2001/XMLSchema" xmlns:p="http://schemas.microsoft.com/office/2006/metadata/properties" xmlns:ns2="2805ead4-2c8e-47e0-9b62-9a9b6ee313df" xmlns:ns3="1016c4d3-1d1a-4a81-b8b4-742860d01d85" targetNamespace="http://schemas.microsoft.com/office/2006/metadata/properties" ma:root="true" ma:fieldsID="f0c92ffb0ce6afc4cb47acd58758f0f1" ns2:_="" ns3:_="">
    <xsd:import namespace="2805ead4-2c8e-47e0-9b62-9a9b6ee313df"/>
    <xsd:import namespace="1016c4d3-1d1a-4a81-b8b4-742860d01d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5ead4-2c8e-47e0-9b62-9a9b6ee313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f1b48f6b-d496-428b-bfb6-7dbbaa0b75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16c4d3-1d1a-4a81-b8b4-742860d01d8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30ae97a-c3dc-4694-9058-569344998412}" ma:internalName="TaxCatchAll" ma:showField="CatchAllData" ma:web="1016c4d3-1d1a-4a81-b8b4-742860d01d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DFB06F-1986-4CD5-ADE8-5F7A1E743D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DF1984-0485-4A6C-BDE0-346994EB6EEB}">
  <ds:schemaRefs>
    <ds:schemaRef ds:uri="http://purl.org/dc/dcmitype/"/>
    <ds:schemaRef ds:uri="1016c4d3-1d1a-4a81-b8b4-742860d01d85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805ead4-2c8e-47e0-9b62-9a9b6ee313df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D34ABA9-2BE0-48EC-8BDD-A2D9DE1A4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05ead4-2c8e-47e0-9b62-9a9b6ee313df"/>
    <ds:schemaRef ds:uri="1016c4d3-1d1a-4a81-b8b4-742860d01d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1132</Words>
  <Application>Microsoft Office PowerPoint</Application>
  <PresentationFormat>Widescreen</PresentationFormat>
  <Paragraphs>156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맑은 고딕</vt:lpstr>
      <vt:lpstr>Meiryo</vt:lpstr>
      <vt:lpstr>나눔고딕</vt:lpstr>
      <vt:lpstr>Arial</vt:lpstr>
      <vt:lpstr>Calibri</vt:lpstr>
      <vt:lpstr>Verdana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 Hyejun (Judy)</dc:creator>
  <cp:lastModifiedBy>Tan Tiong Soon (Bryant)</cp:lastModifiedBy>
  <cp:revision>74</cp:revision>
  <dcterms:created xsi:type="dcterms:W3CDTF">2023-06-30T01:29:57Z</dcterms:created>
  <dcterms:modified xsi:type="dcterms:W3CDTF">2026-07-02T06:47:24Z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0x01010050D3A4E0C212A546BE8CAC4E69BB711C</vt:lpwstr>
  </property>
  <property fmtid="{D5CDD505-2E9C-101B-9397-08002B2CF9AE}" pid="3" name="MediaServiceImageTags">
    <vt:lpwstr/>
  </property>
</Properties>
</file>